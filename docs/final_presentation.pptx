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58" r:id="rId7"/>
    <p:sldId id="259" r:id="rId8"/>
    <p:sldId id="260" r:id="rId9"/>
    <p:sldId id="273" r:id="rId10"/>
    <p:sldId id="268" r:id="rId11"/>
    <p:sldId id="274" r:id="rId12"/>
    <p:sldId id="270" r:id="rId13"/>
    <p:sldId id="275" r:id="rId14"/>
    <p:sldId id="261" r:id="rId15"/>
    <p:sldId id="263" r:id="rId16"/>
    <p:sldId id="283" r:id="rId17"/>
    <p:sldId id="284" r:id="rId18"/>
    <p:sldId id="285" r:id="rId19"/>
    <p:sldId id="282" r:id="rId20"/>
    <p:sldId id="262" r:id="rId21"/>
    <p:sldId id="271" r:id="rId22"/>
    <p:sldId id="276" r:id="rId23"/>
    <p:sldId id="280" r:id="rId24"/>
    <p:sldId id="281" r:id="rId25"/>
    <p:sldId id="266" r:id="rId26"/>
  </p:sldIdLst>
  <p:sldSz cx="9144000" cy="5143500" type="screen16x9"/>
  <p:notesSz cx="5143500" cy="9144000"/>
  <p:embeddedFontLst>
    <p:embeddedFont>
      <p:font typeface="Red Hat Text" panose="020B0604020202020204" charset="0"/>
      <p:regular r:id="rId28"/>
    </p:embeddedFont>
    <p:embeddedFont>
      <p:font typeface="Roboto Light" panose="02000000000000000000" pitchFamily="2" charset="0"/>
      <p:regular r:id="rId29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7386" autoAdjust="0"/>
  </p:normalViewPr>
  <p:slideViewPr>
    <p:cSldViewPr snapToGrid="0" snapToObjects="1">
      <p:cViewPr varScale="1">
        <p:scale>
          <a:sx n="204" d="100"/>
          <a:sy n="204" d="100"/>
        </p:scale>
        <p:origin x="564" y="1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348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5BF5-0E2E-915A-4BBF-3A4BB3E99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FDBF6-6FFF-AA58-C008-80D9A1E7F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A0DC3-8961-B683-F547-C6A4F887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B2FAC-8FC8-7250-C932-14A83783E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64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15200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79F2EC-F90E-17C1-5780-94FC93EDA32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demo.mp4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682D981D-1A1B-216E-F4A8-14A31C0AFA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214" r="12342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926381"/>
            <a:ext cx="1959471" cy="281136"/>
          </a:xfrm>
          <a:prstGeom prst="roundRect">
            <a:avLst>
              <a:gd name="adj" fmla="val 6386"/>
            </a:avLst>
          </a:prstGeom>
          <a:solidFill>
            <a:srgbClr val="FAD1D1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 1"/>
          <p:cNvSpPr/>
          <p:nvPr/>
        </p:nvSpPr>
        <p:spPr>
          <a:xfrm>
            <a:off x="4042321" y="971252"/>
            <a:ext cx="177998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9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PROJETO FINAL DE CURSO · ISEL</a:t>
            </a:r>
            <a:endParaRPr lang="pt-PT" sz="900" noProof="0" dirty="0"/>
          </a:p>
        </p:txBody>
      </p:sp>
      <p:sp>
        <p:nvSpPr>
          <p:cNvPr id="5" name="Text 2"/>
          <p:cNvSpPr/>
          <p:nvPr/>
        </p:nvSpPr>
        <p:spPr>
          <a:xfrm>
            <a:off x="3952577" y="1267346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pt-PT" sz="27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EduCal</a:t>
            </a:r>
            <a:endParaRPr lang="pt-PT" sz="2750" noProof="0" dirty="0"/>
          </a:p>
        </p:txBody>
      </p:sp>
      <p:sp>
        <p:nvSpPr>
          <p:cNvPr id="6" name="Text 3"/>
          <p:cNvSpPr/>
          <p:nvPr/>
        </p:nvSpPr>
        <p:spPr>
          <a:xfrm>
            <a:off x="3952577" y="1931715"/>
            <a:ext cx="4667845" cy="1821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pt-PT" sz="380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Aplicação de Planeamento Académico</a:t>
            </a:r>
            <a:endParaRPr lang="pt-PT" sz="3800" noProof="0" dirty="0"/>
          </a:p>
        </p:txBody>
      </p:sp>
      <p:sp>
        <p:nvSpPr>
          <p:cNvPr id="7" name="Text 4"/>
          <p:cNvSpPr/>
          <p:nvPr/>
        </p:nvSpPr>
        <p:spPr>
          <a:xfrm>
            <a:off x="3952577" y="3977728"/>
            <a:ext cx="4667845" cy="74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Licenciatura em Engenharia Informática, Redes e Telecomunicações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Daniel Santos - 51701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pt-PT" sz="1150" b="1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Orientadores: </a:t>
            </a:r>
            <a:r>
              <a:rPr lang="pt-PT" sz="11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Filipe Freitas e Sandra Ferreira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72E0754-7BDC-1E36-96BB-09AAFAC971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987" t="15269" r="31710" b="15214"/>
          <a:stretch>
            <a:fillRect/>
          </a:stretch>
        </p:blipFill>
        <p:spPr>
          <a:xfrm rot="16200000">
            <a:off x="8262105" y="-361428"/>
            <a:ext cx="313594" cy="125325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3DBB62-C28F-73B8-B276-5FFA3DCF92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503" t="23017" r="14601" b="21869"/>
          <a:stretch>
            <a:fillRect/>
          </a:stretch>
        </p:blipFill>
        <p:spPr>
          <a:xfrm>
            <a:off x="6747803" y="108402"/>
            <a:ext cx="867507" cy="395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95353" y="375568"/>
            <a:ext cx="708794" cy="250701"/>
          </a:xfrm>
          <a:prstGeom prst="roundRect">
            <a:avLst>
              <a:gd name="adj" fmla="val 6378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 1"/>
          <p:cNvSpPr/>
          <p:nvPr/>
        </p:nvSpPr>
        <p:spPr>
          <a:xfrm>
            <a:off x="3980036" y="420291"/>
            <a:ext cx="539428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pt-PT" sz="80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CONTEXTO</a:t>
            </a:r>
            <a:endParaRPr lang="pt-P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3895353" y="673671"/>
            <a:ext cx="478229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pt-PT" sz="24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 Planeamento Académico no ISEL</a:t>
            </a:r>
            <a:endParaRPr lang="pt-PT" sz="2450" noProof="0" dirty="0"/>
          </a:p>
        </p:txBody>
      </p:sp>
      <p:sp>
        <p:nvSpPr>
          <p:cNvPr id="6" name="Shape 3"/>
          <p:cNvSpPr/>
          <p:nvPr/>
        </p:nvSpPr>
        <p:spPr>
          <a:xfrm>
            <a:off x="3895353" y="1635398"/>
            <a:ext cx="4782294" cy="965076"/>
          </a:xfrm>
          <a:prstGeom prst="roundRect">
            <a:avLst>
              <a:gd name="adj" fmla="val 7106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4"/>
          <p:cNvSpPr/>
          <p:nvPr/>
        </p:nvSpPr>
        <p:spPr>
          <a:xfrm>
            <a:off x="3881065" y="1635398"/>
            <a:ext cx="57150" cy="965076"/>
          </a:xfrm>
          <a:prstGeom prst="roundRect">
            <a:avLst>
              <a:gd name="adj" fmla="val 34974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8" name="Text 5"/>
          <p:cNvSpPr/>
          <p:nvPr/>
        </p:nvSpPr>
        <p:spPr>
          <a:xfrm>
            <a:off x="4085704" y="1782887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20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Processo Manual</a:t>
            </a:r>
            <a:endParaRPr lang="pt-PT" sz="1200" noProof="0" dirty="0"/>
          </a:p>
        </p:txBody>
      </p:sp>
      <p:sp>
        <p:nvSpPr>
          <p:cNvPr id="9" name="Text 6"/>
          <p:cNvSpPr/>
          <p:nvPr/>
        </p:nvSpPr>
        <p:spPr>
          <a:xfrm>
            <a:off x="4085704" y="2049959"/>
            <a:ext cx="444445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planeamento anual é gerido com folhas de cálculo Excel densas e complexas, sem qualquer automatização.</a:t>
            </a:r>
            <a:endParaRPr lang="pt-PT" sz="1000" noProof="0" dirty="0"/>
          </a:p>
        </p:txBody>
      </p:sp>
      <p:sp>
        <p:nvSpPr>
          <p:cNvPr id="10" name="Shape 7"/>
          <p:cNvSpPr/>
          <p:nvPr/>
        </p:nvSpPr>
        <p:spPr>
          <a:xfrm>
            <a:off x="3895353" y="2719090"/>
            <a:ext cx="4782294" cy="965076"/>
          </a:xfrm>
          <a:prstGeom prst="roundRect">
            <a:avLst>
              <a:gd name="adj" fmla="val 7106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8"/>
          <p:cNvSpPr/>
          <p:nvPr/>
        </p:nvSpPr>
        <p:spPr>
          <a:xfrm>
            <a:off x="3881065" y="2719090"/>
            <a:ext cx="57150" cy="965076"/>
          </a:xfrm>
          <a:prstGeom prst="roundRect">
            <a:avLst>
              <a:gd name="adj" fmla="val 34974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Text 9"/>
          <p:cNvSpPr/>
          <p:nvPr/>
        </p:nvSpPr>
        <p:spPr>
          <a:xfrm>
            <a:off x="4085704" y="2866579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20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Transição Morosa</a:t>
            </a:r>
            <a:endParaRPr lang="pt-PT" sz="1200" noProof="0" dirty="0"/>
          </a:p>
        </p:txBody>
      </p:sp>
      <p:sp>
        <p:nvSpPr>
          <p:cNvPr id="13" name="Text 10"/>
          <p:cNvSpPr/>
          <p:nvPr/>
        </p:nvSpPr>
        <p:spPr>
          <a:xfrm>
            <a:off x="4085704" y="3133651"/>
            <a:ext cx="444445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migração entre anos letivos implica replicar manualmente uma rede complexa de objetivos, responsáveis e instruções.</a:t>
            </a:r>
            <a:endParaRPr lang="pt-PT" sz="1000" noProof="0" dirty="0"/>
          </a:p>
        </p:txBody>
      </p:sp>
      <p:sp>
        <p:nvSpPr>
          <p:cNvPr id="14" name="Shape 11"/>
          <p:cNvSpPr/>
          <p:nvPr/>
        </p:nvSpPr>
        <p:spPr>
          <a:xfrm>
            <a:off x="3895353" y="3802782"/>
            <a:ext cx="4782294" cy="965076"/>
          </a:xfrm>
          <a:prstGeom prst="roundRect">
            <a:avLst>
              <a:gd name="adj" fmla="val 7106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2"/>
          <p:cNvSpPr/>
          <p:nvPr/>
        </p:nvSpPr>
        <p:spPr>
          <a:xfrm>
            <a:off x="3881065" y="3802782"/>
            <a:ext cx="57150" cy="965076"/>
          </a:xfrm>
          <a:prstGeom prst="roundRect">
            <a:avLst>
              <a:gd name="adj" fmla="val 34974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Text 13"/>
          <p:cNvSpPr/>
          <p:nvPr/>
        </p:nvSpPr>
        <p:spPr>
          <a:xfrm>
            <a:off x="4085704" y="3950271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20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Propenso a Erros</a:t>
            </a:r>
            <a:endParaRPr lang="pt-PT" sz="1200" noProof="0" dirty="0"/>
          </a:p>
        </p:txBody>
      </p:sp>
      <p:sp>
        <p:nvSpPr>
          <p:cNvPr id="17" name="Text 14"/>
          <p:cNvSpPr/>
          <p:nvPr/>
        </p:nvSpPr>
        <p:spPr>
          <a:xfrm>
            <a:off x="4085704" y="4217343"/>
            <a:ext cx="444445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ausência de validação automática torna o processo vulnerável a inconsistências e falhas humanas.</a:t>
            </a:r>
            <a:endParaRPr lang="pt-PT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1101626"/>
            <a:ext cx="1548036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Text 1"/>
          <p:cNvSpPr/>
          <p:nvPr/>
        </p:nvSpPr>
        <p:spPr>
          <a:xfrm>
            <a:off x="618083" y="1151260"/>
            <a:ext cx="135902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90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PROBLEMA E OBJETIVOS</a:t>
            </a:r>
            <a:endParaRPr lang="pt-PT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523577" y="1452116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pt-PT" sz="27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Porquê o EduCal?</a:t>
            </a:r>
            <a:endParaRPr lang="pt-PT" sz="2750" noProof="0" dirty="0"/>
          </a:p>
        </p:txBody>
      </p:sp>
      <p:sp>
        <p:nvSpPr>
          <p:cNvPr id="5" name="Text 3"/>
          <p:cNvSpPr/>
          <p:nvPr/>
        </p:nvSpPr>
        <p:spPr>
          <a:xfrm>
            <a:off x="523577" y="226605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PT" sz="13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 Problema</a:t>
            </a:r>
            <a:endParaRPr lang="pt-PT" sz="1350" noProof="0" dirty="0"/>
          </a:p>
        </p:txBody>
      </p:sp>
      <p:sp>
        <p:nvSpPr>
          <p:cNvPr id="6" name="Text 4"/>
          <p:cNvSpPr/>
          <p:nvPr/>
        </p:nvSpPr>
        <p:spPr>
          <a:xfrm>
            <a:off x="523577" y="2635597"/>
            <a:ext cx="386595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Não existe nenhuma ferramenta que automatize a transição de datas entre anos letivos no ISEL. O processo atual é manual, redundante e sem validação de regras de negócio.</a:t>
            </a:r>
            <a:endParaRPr lang="pt-PT" sz="1150" noProof="0" dirty="0"/>
          </a:p>
        </p:txBody>
      </p:sp>
      <p:sp>
        <p:nvSpPr>
          <p:cNvPr id="7" name="Shape 5"/>
          <p:cNvSpPr/>
          <p:nvPr/>
        </p:nvSpPr>
        <p:spPr>
          <a:xfrm>
            <a:off x="4651549" y="2116485"/>
            <a:ext cx="4081314" cy="1925315"/>
          </a:xfrm>
          <a:prstGeom prst="roundRect">
            <a:avLst>
              <a:gd name="adj" fmla="val 116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8" name="Text 6"/>
          <p:cNvSpPr/>
          <p:nvPr/>
        </p:nvSpPr>
        <p:spPr>
          <a:xfrm>
            <a:off x="4801121" y="226605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PT" sz="13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Os Objetivos</a:t>
            </a:r>
            <a:endParaRPr lang="pt-PT" sz="1350" noProof="0" dirty="0"/>
          </a:p>
        </p:txBody>
      </p:sp>
      <p:sp>
        <p:nvSpPr>
          <p:cNvPr id="9" name="Text 7"/>
          <p:cNvSpPr/>
          <p:nvPr/>
        </p:nvSpPr>
        <p:spPr>
          <a:xfrm>
            <a:off x="4801121" y="2635597"/>
            <a:ext cx="3782169" cy="135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pt-PT" sz="11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Criar um calendário académico de base centralizado</a:t>
            </a:r>
            <a:endParaRPr lang="pt-PT" sz="1150" noProof="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pt-PT" sz="11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Automatizar a migração entre anos letivos</a:t>
            </a:r>
            <a:endParaRPr lang="pt-PT" sz="1150" noProof="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pt-PT" sz="11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Aplicar regras de negócio (feriados, fins de semana, férias)</a:t>
            </a:r>
            <a:endParaRPr lang="pt-PT" sz="1150" noProof="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pt-PT" sz="11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Eliminar redundâncias no fluxo de trabalho</a:t>
            </a:r>
            <a:endParaRPr lang="pt-PT" sz="11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538" y="406375"/>
            <a:ext cx="740718" cy="256208"/>
          </a:xfrm>
          <a:prstGeom prst="roundRect">
            <a:avLst>
              <a:gd name="adj" fmla="val 6350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Text 1"/>
          <p:cNvSpPr/>
          <p:nvPr/>
        </p:nvSpPr>
        <p:spPr>
          <a:xfrm>
            <a:off x="560636" y="451768"/>
            <a:ext cx="568523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pt-PT" sz="85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SOLUÇÃO</a:t>
            </a:r>
            <a:endParaRPr lang="pt-PT" sz="850" noProof="0" dirty="0"/>
          </a:p>
        </p:txBody>
      </p:sp>
      <p:sp>
        <p:nvSpPr>
          <p:cNvPr id="4" name="Text 2"/>
          <p:cNvSpPr/>
          <p:nvPr/>
        </p:nvSpPr>
        <p:spPr>
          <a:xfrm>
            <a:off x="474538" y="711696"/>
            <a:ext cx="319020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pt-PT" sz="250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 que é o EduCal?</a:t>
            </a:r>
            <a:endParaRPr lang="pt-PT" sz="2500" noProof="0" dirty="0"/>
          </a:p>
        </p:txBody>
      </p:sp>
      <p:sp>
        <p:nvSpPr>
          <p:cNvPr id="5" name="Text 3"/>
          <p:cNvSpPr/>
          <p:nvPr/>
        </p:nvSpPr>
        <p:spPr>
          <a:xfrm>
            <a:off x="474538" y="1294656"/>
            <a:ext cx="819492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pt-PT" sz="10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Uma aplicação web que substitui as folhas de cálculo por um sistema estruturado, automatizado e colaborativo.</a:t>
            </a:r>
            <a:endParaRPr lang="pt-PT" sz="1050" noProof="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3337A9FF-0B51-D8F6-BC23-20CBA182B37A}"/>
              </a:ext>
            </a:extLst>
          </p:cNvPr>
          <p:cNvSpPr/>
          <p:nvPr/>
        </p:nvSpPr>
        <p:spPr>
          <a:xfrm>
            <a:off x="458167" y="1579811"/>
            <a:ext cx="2666181" cy="1619101"/>
          </a:xfrm>
          <a:prstGeom prst="roundRect">
            <a:avLst>
              <a:gd name="adj" fmla="val 1213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8A230644-4161-6DBB-BFF6-032F87B2CC6E}"/>
              </a:ext>
            </a:extLst>
          </p:cNvPr>
          <p:cNvSpPr/>
          <p:nvPr/>
        </p:nvSpPr>
        <p:spPr>
          <a:xfrm>
            <a:off x="589062" y="1710705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9ABB8211-4454-1B41-2909-24A8612AC0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037" y="1818680"/>
            <a:ext cx="176659" cy="176659"/>
          </a:xfrm>
          <a:prstGeom prst="rect">
            <a:avLst/>
          </a:prstGeom>
        </p:spPr>
      </p:pic>
      <p:sp>
        <p:nvSpPr>
          <p:cNvPr id="29" name="Text 6">
            <a:extLst>
              <a:ext uri="{FF2B5EF4-FFF2-40B4-BE49-F238E27FC236}">
                <a16:creationId xmlns:a16="http://schemas.microsoft.com/office/drawing/2014/main" id="{E3A793A3-87FF-096E-E627-CF0E1D19CDB5}"/>
              </a:ext>
            </a:extLst>
          </p:cNvPr>
          <p:cNvSpPr/>
          <p:nvPr/>
        </p:nvSpPr>
        <p:spPr>
          <a:xfrm>
            <a:off x="589062" y="2217911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20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Lógica Hierárquica</a:t>
            </a:r>
            <a:endParaRPr lang="pt-PT" sz="1200" noProof="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C7FCA376-367F-F6A6-C11F-59A851FF3F36}"/>
              </a:ext>
            </a:extLst>
          </p:cNvPr>
          <p:cNvSpPr/>
          <p:nvPr/>
        </p:nvSpPr>
        <p:spPr>
          <a:xfrm>
            <a:off x="589062" y="2479104"/>
            <a:ext cx="2404393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Eventos com múltiplas ocorrências independentes e rastreabilidade completa.</a:t>
            </a:r>
            <a:endParaRPr lang="pt-PT" sz="1000" noProof="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1F8208B8-B296-C187-02E2-C0952D21EC58}"/>
              </a:ext>
            </a:extLst>
          </p:cNvPr>
          <p:cNvSpPr/>
          <p:nvPr/>
        </p:nvSpPr>
        <p:spPr>
          <a:xfrm>
            <a:off x="3238872" y="1579811"/>
            <a:ext cx="2666181" cy="1619101"/>
          </a:xfrm>
          <a:prstGeom prst="roundRect">
            <a:avLst>
              <a:gd name="adj" fmla="val 1213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FB821BF6-EFFF-C22E-80AF-F50E065BE06E}"/>
              </a:ext>
            </a:extLst>
          </p:cNvPr>
          <p:cNvSpPr/>
          <p:nvPr/>
        </p:nvSpPr>
        <p:spPr>
          <a:xfrm>
            <a:off x="3369766" y="1710705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C96F47BA-AD2C-51D9-6C99-DD2B8B9731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741" y="1818680"/>
            <a:ext cx="176659" cy="176659"/>
          </a:xfrm>
          <a:prstGeom prst="rect">
            <a:avLst/>
          </a:prstGeom>
        </p:spPr>
      </p:pic>
      <p:sp>
        <p:nvSpPr>
          <p:cNvPr id="34" name="Text 10">
            <a:extLst>
              <a:ext uri="{FF2B5EF4-FFF2-40B4-BE49-F238E27FC236}">
                <a16:creationId xmlns:a16="http://schemas.microsoft.com/office/drawing/2014/main" id="{64894820-2564-B9A0-2116-7E8489E6837A}"/>
              </a:ext>
            </a:extLst>
          </p:cNvPr>
          <p:cNvSpPr/>
          <p:nvPr/>
        </p:nvSpPr>
        <p:spPr>
          <a:xfrm>
            <a:off x="3369766" y="2217911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20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Motor de Migração</a:t>
            </a:r>
            <a:endParaRPr lang="pt-PT" sz="1200" noProof="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768111F5-0A82-A400-D4B5-DDA4A4BCCD85}"/>
              </a:ext>
            </a:extLst>
          </p:cNvPr>
          <p:cNvSpPr/>
          <p:nvPr/>
        </p:nvSpPr>
        <p:spPr>
          <a:xfrm>
            <a:off x="3369766" y="2479104"/>
            <a:ext cx="2404393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Migra os eventos e as férias letivas de um ano para o próximo ano letivo.</a:t>
            </a:r>
            <a:endParaRPr lang="pt-PT" sz="1000" noProof="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1063CBF3-121C-C2A0-1310-C465700972A7}"/>
              </a:ext>
            </a:extLst>
          </p:cNvPr>
          <p:cNvSpPr/>
          <p:nvPr/>
        </p:nvSpPr>
        <p:spPr>
          <a:xfrm>
            <a:off x="6019577" y="1579811"/>
            <a:ext cx="2666256" cy="1619101"/>
          </a:xfrm>
          <a:prstGeom prst="roundRect">
            <a:avLst>
              <a:gd name="adj" fmla="val 1213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B90E28E7-A7A5-1E08-5724-38E7A335C741}"/>
              </a:ext>
            </a:extLst>
          </p:cNvPr>
          <p:cNvSpPr/>
          <p:nvPr/>
        </p:nvSpPr>
        <p:spPr>
          <a:xfrm>
            <a:off x="6150471" y="1710705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A9D80B81-4A48-1EEE-0478-5167DF63A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8446" y="1818680"/>
            <a:ext cx="176659" cy="176659"/>
          </a:xfrm>
          <a:prstGeom prst="rect">
            <a:avLst/>
          </a:prstGeom>
        </p:spPr>
      </p:pic>
      <p:sp>
        <p:nvSpPr>
          <p:cNvPr id="39" name="Text 14">
            <a:extLst>
              <a:ext uri="{FF2B5EF4-FFF2-40B4-BE49-F238E27FC236}">
                <a16:creationId xmlns:a16="http://schemas.microsoft.com/office/drawing/2014/main" id="{44956EA0-1F09-900B-1395-45D38D159062}"/>
              </a:ext>
            </a:extLst>
          </p:cNvPr>
          <p:cNvSpPr/>
          <p:nvPr/>
        </p:nvSpPr>
        <p:spPr>
          <a:xfrm>
            <a:off x="6150471" y="2217911"/>
            <a:ext cx="177782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20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Controlo de Responsáveis</a:t>
            </a:r>
            <a:endParaRPr lang="pt-PT" sz="1200" noProof="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B8586E26-5F28-E91C-CA08-DD553A861451}"/>
              </a:ext>
            </a:extLst>
          </p:cNvPr>
          <p:cNvSpPr/>
          <p:nvPr/>
        </p:nvSpPr>
        <p:spPr>
          <a:xfrm>
            <a:off x="6150471" y="2479104"/>
            <a:ext cx="2404467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Gestão de estados de planeamento e atribuição de responsáveis por evento.</a:t>
            </a:r>
            <a:endParaRPr lang="pt-PT" sz="1000" noProof="0" dirty="0"/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818E5D03-97AC-DC61-2D02-D4B8E1B6553E}"/>
              </a:ext>
            </a:extLst>
          </p:cNvPr>
          <p:cNvSpPr/>
          <p:nvPr/>
        </p:nvSpPr>
        <p:spPr>
          <a:xfrm>
            <a:off x="458167" y="3313435"/>
            <a:ext cx="4056534" cy="1422797"/>
          </a:xfrm>
          <a:prstGeom prst="roundRect">
            <a:avLst>
              <a:gd name="adj" fmla="val 1380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C0850591-D39E-F7B2-AB65-43EBC7EEA5DF}"/>
              </a:ext>
            </a:extLst>
          </p:cNvPr>
          <p:cNvSpPr/>
          <p:nvPr/>
        </p:nvSpPr>
        <p:spPr>
          <a:xfrm>
            <a:off x="589062" y="3444329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76C06D88-A8D8-B88A-800A-850A31708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037" y="3552304"/>
            <a:ext cx="176659" cy="176659"/>
          </a:xfrm>
          <a:prstGeom prst="rect">
            <a:avLst/>
          </a:prstGeom>
        </p:spPr>
      </p:pic>
      <p:sp>
        <p:nvSpPr>
          <p:cNvPr id="44" name="Text 18">
            <a:extLst>
              <a:ext uri="{FF2B5EF4-FFF2-40B4-BE49-F238E27FC236}">
                <a16:creationId xmlns:a16="http://schemas.microsoft.com/office/drawing/2014/main" id="{52CF9F14-4309-74D2-D2C7-1F82C66CAF65}"/>
              </a:ext>
            </a:extLst>
          </p:cNvPr>
          <p:cNvSpPr/>
          <p:nvPr/>
        </p:nvSpPr>
        <p:spPr>
          <a:xfrm>
            <a:off x="589062" y="3951536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20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Notificações</a:t>
            </a:r>
            <a:endParaRPr lang="pt-PT" sz="1200" noProof="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AD7B587C-259F-7E51-4F15-4AE44CD39BCA}"/>
              </a:ext>
            </a:extLst>
          </p:cNvPr>
          <p:cNvSpPr/>
          <p:nvPr/>
        </p:nvSpPr>
        <p:spPr>
          <a:xfrm>
            <a:off x="589062" y="4212729"/>
            <a:ext cx="3794745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Sino de notificações in-app com aviso configurável por evento, avisando antes de cada ocorrência.</a:t>
            </a:r>
            <a:endParaRPr lang="pt-PT" sz="1000" noProof="0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3443A0FD-3B36-8D59-86C8-3BC8D1CC4F60}"/>
              </a:ext>
            </a:extLst>
          </p:cNvPr>
          <p:cNvSpPr/>
          <p:nvPr/>
        </p:nvSpPr>
        <p:spPr>
          <a:xfrm>
            <a:off x="4629224" y="3313435"/>
            <a:ext cx="4056608" cy="1422797"/>
          </a:xfrm>
          <a:prstGeom prst="roundRect">
            <a:avLst>
              <a:gd name="adj" fmla="val 1380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2B035183-E21D-559D-1FF7-E41CCF4489AB}"/>
              </a:ext>
            </a:extLst>
          </p:cNvPr>
          <p:cNvSpPr/>
          <p:nvPr/>
        </p:nvSpPr>
        <p:spPr>
          <a:xfrm>
            <a:off x="4760119" y="3444329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D5BF54FD-3611-FD7A-1DBF-40283621E07F}"/>
              </a:ext>
            </a:extLst>
          </p:cNvPr>
          <p:cNvSpPr/>
          <p:nvPr/>
        </p:nvSpPr>
        <p:spPr>
          <a:xfrm>
            <a:off x="4760119" y="3951536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20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Motor de Regras</a:t>
            </a:r>
            <a:endParaRPr lang="pt-PT" sz="1200" noProof="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2B01EC8D-41E7-F654-343B-E8EDE1C2B5C2}"/>
              </a:ext>
            </a:extLst>
          </p:cNvPr>
          <p:cNvSpPr/>
          <p:nvPr/>
        </p:nvSpPr>
        <p:spPr>
          <a:xfrm>
            <a:off x="4760119" y="4212729"/>
            <a:ext cx="3794820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Sete regras configuráveis (feriados, fins de semana, férias, sobreposições, intervalos mínimos) validam cada ocorrência.</a:t>
            </a:r>
            <a:endParaRPr lang="pt-PT" sz="1000" noProof="0" dirty="0"/>
          </a:p>
        </p:txBody>
      </p:sp>
      <p:pic>
        <p:nvPicPr>
          <p:cNvPr id="51" name="Graphic 51" descr="Business rule engi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4100" y="3556000"/>
            <a:ext cx="1778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4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74253"/>
            <a:ext cx="971476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Text 1"/>
          <p:cNvSpPr/>
          <p:nvPr/>
        </p:nvSpPr>
        <p:spPr>
          <a:xfrm>
            <a:off x="618083" y="623888"/>
            <a:ext cx="78246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90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ARQUITETURA</a:t>
            </a:r>
            <a:endParaRPr lang="pt-PT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523577" y="924744"/>
            <a:ext cx="360677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pt-PT" sz="27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Arquitetura do Sistema</a:t>
            </a:r>
            <a:endParaRPr lang="pt-PT" sz="2750" noProof="0" dirty="0"/>
          </a:p>
        </p:txBody>
      </p:sp>
      <p:sp>
        <p:nvSpPr>
          <p:cNvPr id="5" name="Text 3"/>
          <p:cNvSpPr/>
          <p:nvPr/>
        </p:nvSpPr>
        <p:spPr>
          <a:xfrm>
            <a:off x="523577" y="1589112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Arquitetura de três camadas com separação clara de responsabilidades, em testes numa máquina virtual da rede interna do ISEL.</a:t>
            </a:r>
            <a:endParaRPr lang="pt-PT" sz="1150" noProof="0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A7377FA-97F2-00D1-3846-8D57323B8E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458"/>
          <a:stretch>
            <a:fillRect/>
          </a:stretch>
        </p:blipFill>
        <p:spPr>
          <a:xfrm>
            <a:off x="881061" y="2388064"/>
            <a:ext cx="7381875" cy="1743149"/>
          </a:xfrm>
          <a:prstGeom prst="rect">
            <a:avLst/>
          </a:prstGeom>
        </p:spPr>
      </p:pic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941EA2F3-025C-2A99-9668-7BCF31EE71B7}"/>
              </a:ext>
            </a:extLst>
          </p:cNvPr>
          <p:cNvCxnSpPr>
            <a:cxnSpLocks/>
          </p:cNvCxnSpPr>
          <p:nvPr/>
        </p:nvCxnSpPr>
        <p:spPr>
          <a:xfrm>
            <a:off x="3638843" y="2818227"/>
            <a:ext cx="0" cy="96598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CA6C-6562-A729-D49E-54225987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Agrupar 38">
            <a:extLst>
              <a:ext uri="{FF2B5EF4-FFF2-40B4-BE49-F238E27FC236}">
                <a16:creationId xmlns:a16="http://schemas.microsoft.com/office/drawing/2014/main" id="{0EBD7A7F-6D4A-65B5-7884-BB729D30A073}"/>
              </a:ext>
            </a:extLst>
          </p:cNvPr>
          <p:cNvGrpSpPr/>
          <p:nvPr/>
        </p:nvGrpSpPr>
        <p:grpSpPr>
          <a:xfrm>
            <a:off x="871340" y="1821284"/>
            <a:ext cx="7401471" cy="2595562"/>
            <a:chOff x="745765" y="1819497"/>
            <a:chExt cx="7401471" cy="2595562"/>
          </a:xfrm>
        </p:grpSpPr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88D026C3-9320-6ABC-F3E3-3EB55AE6C88E}"/>
                </a:ext>
              </a:extLst>
            </p:cNvPr>
            <p:cNvGrpSpPr/>
            <p:nvPr/>
          </p:nvGrpSpPr>
          <p:grpSpPr>
            <a:xfrm>
              <a:off x="745765" y="1819497"/>
              <a:ext cx="3453036" cy="1199703"/>
              <a:chOff x="810394" y="1780355"/>
              <a:chExt cx="3453036" cy="1199703"/>
            </a:xfrm>
          </p:grpSpPr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40E527CA-2120-761E-60F2-56231D258C55}"/>
                  </a:ext>
                </a:extLst>
              </p:cNvPr>
              <p:cNvSpPr/>
              <p:nvPr/>
            </p:nvSpPr>
            <p:spPr>
              <a:xfrm>
                <a:off x="810394" y="1941610"/>
                <a:ext cx="3453036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7" name="Shape 5">
                <a:extLst>
                  <a:ext uri="{FF2B5EF4-FFF2-40B4-BE49-F238E27FC236}">
                    <a16:creationId xmlns:a16="http://schemas.microsoft.com/office/drawing/2014/main" id="{B50CED5F-D29F-0D25-DA47-F6F8067E8415}"/>
                  </a:ext>
                </a:extLst>
              </p:cNvPr>
              <p:cNvSpPr/>
              <p:nvPr/>
            </p:nvSpPr>
            <p:spPr>
              <a:xfrm>
                <a:off x="810394" y="1927323"/>
                <a:ext cx="3453036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8" name="Shape 6">
                <a:extLst>
                  <a:ext uri="{FF2B5EF4-FFF2-40B4-BE49-F238E27FC236}">
                    <a16:creationId xmlns:a16="http://schemas.microsoft.com/office/drawing/2014/main" id="{E3D298B4-BAD6-7C43-52DE-01E4A2DEA093}"/>
                  </a:ext>
                </a:extLst>
              </p:cNvPr>
              <p:cNvSpPr/>
              <p:nvPr/>
            </p:nvSpPr>
            <p:spPr>
              <a:xfrm>
                <a:off x="2375582" y="1780355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9" name="Image 0" descr="preencoded.png">
                <a:extLst>
                  <a:ext uri="{FF2B5EF4-FFF2-40B4-BE49-F238E27FC236}">
                    <a16:creationId xmlns:a16="http://schemas.microsoft.com/office/drawing/2014/main" id="{7F6FD5D4-EEA4-A42C-283B-547FD9E7DA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472320" y="1877093"/>
                <a:ext cx="129034" cy="129034"/>
              </a:xfrm>
              <a:prstGeom prst="rect">
                <a:avLst/>
              </a:prstGeom>
            </p:spPr>
          </p:pic>
          <p:sp>
            <p:nvSpPr>
              <p:cNvPr id="10" name="Text 7">
                <a:extLst>
                  <a:ext uri="{FF2B5EF4-FFF2-40B4-BE49-F238E27FC236}">
                    <a16:creationId xmlns:a16="http://schemas.microsoft.com/office/drawing/2014/main" id="{E5764B5D-6758-2FF4-AEE9-212D01922FA2}"/>
                  </a:ext>
                </a:extLst>
              </p:cNvPr>
              <p:cNvSpPr/>
              <p:nvPr/>
            </p:nvSpPr>
            <p:spPr>
              <a:xfrm>
                <a:off x="932209" y="2210394"/>
                <a:ext cx="3209403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Padrão Repositório</a:t>
                </a:r>
                <a:endParaRPr lang="pt-PT" sz="950" noProof="0" dirty="0"/>
              </a:p>
            </p:txBody>
          </p:sp>
          <p:sp>
            <p:nvSpPr>
              <p:cNvPr id="11" name="Text 8">
                <a:extLst>
                  <a:ext uri="{FF2B5EF4-FFF2-40B4-BE49-F238E27FC236}">
                    <a16:creationId xmlns:a16="http://schemas.microsoft.com/office/drawing/2014/main" id="{D2514EA4-5841-B439-CCE8-742825D84FA1}"/>
                  </a:ext>
                </a:extLst>
              </p:cNvPr>
              <p:cNvSpPr/>
              <p:nvPr/>
            </p:nvSpPr>
            <p:spPr>
              <a:xfrm>
                <a:off x="932210" y="2414884"/>
                <a:ext cx="3209404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Toda a lógica de negócio depende só de uma interface (ex: ICalendarRepository), nunca de um cliente de base de dados concreto.</a:t>
                </a:r>
                <a:endParaRPr lang="pt-PT" sz="800" noProof="0" dirty="0"/>
              </a:p>
            </p:txBody>
          </p:sp>
        </p:grpSp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7626B983-F08D-B8D7-6197-A73F02103784}"/>
                </a:ext>
              </a:extLst>
            </p:cNvPr>
            <p:cNvGrpSpPr/>
            <p:nvPr/>
          </p:nvGrpSpPr>
          <p:grpSpPr>
            <a:xfrm>
              <a:off x="745840" y="3209997"/>
              <a:ext cx="3453036" cy="1199704"/>
              <a:chOff x="810394" y="3051942"/>
              <a:chExt cx="3453036" cy="1199704"/>
            </a:xfrm>
          </p:grpSpPr>
          <p:sp>
            <p:nvSpPr>
              <p:cNvPr id="18" name="Shape 14">
                <a:extLst>
                  <a:ext uri="{FF2B5EF4-FFF2-40B4-BE49-F238E27FC236}">
                    <a16:creationId xmlns:a16="http://schemas.microsoft.com/office/drawing/2014/main" id="{3A2936CB-9C60-7C5C-3F59-4125803FF029}"/>
                  </a:ext>
                </a:extLst>
              </p:cNvPr>
              <p:cNvSpPr/>
              <p:nvPr/>
            </p:nvSpPr>
            <p:spPr>
              <a:xfrm>
                <a:off x="810394" y="3213198"/>
                <a:ext cx="3453036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9" name="Shape 15">
                <a:extLst>
                  <a:ext uri="{FF2B5EF4-FFF2-40B4-BE49-F238E27FC236}">
                    <a16:creationId xmlns:a16="http://schemas.microsoft.com/office/drawing/2014/main" id="{948F899F-D348-BFB4-1EA8-D1C490C8EDB5}"/>
                  </a:ext>
                </a:extLst>
              </p:cNvPr>
              <p:cNvSpPr/>
              <p:nvPr/>
            </p:nvSpPr>
            <p:spPr>
              <a:xfrm>
                <a:off x="810394" y="3198910"/>
                <a:ext cx="3453036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0" name="Shape 16">
                <a:extLst>
                  <a:ext uri="{FF2B5EF4-FFF2-40B4-BE49-F238E27FC236}">
                    <a16:creationId xmlns:a16="http://schemas.microsoft.com/office/drawing/2014/main" id="{E2673AA3-3BFB-AB3C-4C5A-7C44A0E5F75F}"/>
                  </a:ext>
                </a:extLst>
              </p:cNvPr>
              <p:cNvSpPr/>
              <p:nvPr/>
            </p:nvSpPr>
            <p:spPr>
              <a:xfrm>
                <a:off x="2375582" y="3051942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21" name="Image 2" descr="preencoded.png">
                <a:extLst>
                  <a:ext uri="{FF2B5EF4-FFF2-40B4-BE49-F238E27FC236}">
                    <a16:creationId xmlns:a16="http://schemas.microsoft.com/office/drawing/2014/main" id="{9DEF1D2B-6B89-2836-9262-13AC19798E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72320" y="3148681"/>
                <a:ext cx="129034" cy="129034"/>
              </a:xfrm>
              <a:prstGeom prst="rect">
                <a:avLst/>
              </a:prstGeom>
            </p:spPr>
          </p:pic>
          <p:sp>
            <p:nvSpPr>
              <p:cNvPr id="22" name="Text 17">
                <a:extLst>
                  <a:ext uri="{FF2B5EF4-FFF2-40B4-BE49-F238E27FC236}">
                    <a16:creationId xmlns:a16="http://schemas.microsoft.com/office/drawing/2014/main" id="{34C54C1A-EBED-40B7-4B22-4CE07A59EE09}"/>
                  </a:ext>
                </a:extLst>
              </p:cNvPr>
              <p:cNvSpPr/>
              <p:nvPr/>
            </p:nvSpPr>
            <p:spPr>
              <a:xfrm>
                <a:off x="932210" y="3481981"/>
                <a:ext cx="3209404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Desenvolvimento: Vercel + Redis</a:t>
                </a:r>
                <a:endParaRPr lang="pt-PT" sz="950" noProof="0" dirty="0"/>
              </a:p>
            </p:txBody>
          </p:sp>
          <p:sp>
            <p:nvSpPr>
              <p:cNvPr id="23" name="Text 18">
                <a:extLst>
                  <a:ext uri="{FF2B5EF4-FFF2-40B4-BE49-F238E27FC236}">
                    <a16:creationId xmlns:a16="http://schemas.microsoft.com/office/drawing/2014/main" id="{00E39666-131A-6619-EF85-10D62807C72D}"/>
                  </a:ext>
                </a:extLst>
              </p:cNvPr>
              <p:cNvSpPr/>
              <p:nvPr/>
            </p:nvSpPr>
            <p:spPr>
              <a:xfrm>
                <a:off x="932210" y="3686471"/>
                <a:ext cx="3209404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A pré-visualização em Vercel corre sobre a implementação Redis (</a:t>
                </a:r>
                <a:r>
                  <a:rPr lang="pt-PT" sz="800" noProof="0" dirty="0" err="1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blob</a:t>
                </a: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 JSON.</a:t>
                </a:r>
                <a:endParaRPr lang="pt-PT" sz="800" noProof="0" dirty="0"/>
              </a:p>
            </p:txBody>
          </p:sp>
        </p:grpSp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17DAA023-20B7-25ED-80BB-F272CFEC644B}"/>
                </a:ext>
              </a:extLst>
            </p:cNvPr>
            <p:cNvGrpSpPr/>
            <p:nvPr/>
          </p:nvGrpSpPr>
          <p:grpSpPr>
            <a:xfrm>
              <a:off x="4694126" y="3215355"/>
              <a:ext cx="3453110" cy="1199704"/>
              <a:chOff x="4758680" y="3057300"/>
              <a:chExt cx="3453110" cy="1199704"/>
            </a:xfrm>
          </p:grpSpPr>
          <p:sp>
            <p:nvSpPr>
              <p:cNvPr id="24" name="Shape 19">
                <a:extLst>
                  <a:ext uri="{FF2B5EF4-FFF2-40B4-BE49-F238E27FC236}">
                    <a16:creationId xmlns:a16="http://schemas.microsoft.com/office/drawing/2014/main" id="{D6CD0ACF-C712-3127-9094-916D083B4ABF}"/>
                  </a:ext>
                </a:extLst>
              </p:cNvPr>
              <p:cNvSpPr/>
              <p:nvPr/>
            </p:nvSpPr>
            <p:spPr>
              <a:xfrm>
                <a:off x="4758680" y="3218556"/>
                <a:ext cx="3453110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5" name="Shape 20">
                <a:extLst>
                  <a:ext uri="{FF2B5EF4-FFF2-40B4-BE49-F238E27FC236}">
                    <a16:creationId xmlns:a16="http://schemas.microsoft.com/office/drawing/2014/main" id="{53DDD076-A5A1-8DD6-BDC6-633B168C62A0}"/>
                  </a:ext>
                </a:extLst>
              </p:cNvPr>
              <p:cNvSpPr/>
              <p:nvPr/>
            </p:nvSpPr>
            <p:spPr>
              <a:xfrm>
                <a:off x="4758680" y="3204268"/>
                <a:ext cx="3453110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6" name="Shape 21">
                <a:extLst>
                  <a:ext uri="{FF2B5EF4-FFF2-40B4-BE49-F238E27FC236}">
                    <a16:creationId xmlns:a16="http://schemas.microsoft.com/office/drawing/2014/main" id="{E03D0808-B0C1-217F-7AE8-79571547A9E7}"/>
                  </a:ext>
                </a:extLst>
              </p:cNvPr>
              <p:cNvSpPr/>
              <p:nvPr/>
            </p:nvSpPr>
            <p:spPr>
              <a:xfrm>
                <a:off x="6323943" y="3057300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27" name="Image 3" descr="preencoded.png">
                <a:extLst>
                  <a:ext uri="{FF2B5EF4-FFF2-40B4-BE49-F238E27FC236}">
                    <a16:creationId xmlns:a16="http://schemas.microsoft.com/office/drawing/2014/main" id="{29B41BEE-4D24-F22C-F4A2-CAC508FF59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420681" y="3154039"/>
                <a:ext cx="129034" cy="129034"/>
              </a:xfrm>
              <a:prstGeom prst="rect">
                <a:avLst/>
              </a:prstGeom>
            </p:spPr>
          </p:pic>
          <p:sp>
            <p:nvSpPr>
              <p:cNvPr id="28" name="Text 22">
                <a:extLst>
                  <a:ext uri="{FF2B5EF4-FFF2-40B4-BE49-F238E27FC236}">
                    <a16:creationId xmlns:a16="http://schemas.microsoft.com/office/drawing/2014/main" id="{000770EA-CB37-1E2A-8808-C5CFAE7F4C52}"/>
                  </a:ext>
                </a:extLst>
              </p:cNvPr>
              <p:cNvSpPr/>
              <p:nvPr/>
            </p:nvSpPr>
            <p:spPr>
              <a:xfrm>
                <a:off x="4880496" y="3487339"/>
                <a:ext cx="3209479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Produção: VM do ISEL + PostgreSQL</a:t>
                </a:r>
                <a:endParaRPr lang="pt-PT" sz="950" noProof="0" dirty="0"/>
              </a:p>
            </p:txBody>
          </p:sp>
          <p:sp>
            <p:nvSpPr>
              <p:cNvPr id="29" name="Text 23">
                <a:extLst>
                  <a:ext uri="{FF2B5EF4-FFF2-40B4-BE49-F238E27FC236}">
                    <a16:creationId xmlns:a16="http://schemas.microsoft.com/office/drawing/2014/main" id="{0908BB3E-BEB7-23BE-D545-F71F1B1A496D}"/>
                  </a:ext>
                </a:extLst>
              </p:cNvPr>
              <p:cNvSpPr/>
              <p:nvPr/>
            </p:nvSpPr>
            <p:spPr>
              <a:xfrm>
                <a:off x="4880496" y="3691829"/>
                <a:ext cx="3209479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A mesma aplicação, sem alterar controllers, serviços ou </a:t>
                </a:r>
                <a:r>
                  <a:rPr lang="pt-PT" sz="800" noProof="0" dirty="0" err="1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frontend</a:t>
                </a: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, só a variável de ambiente muda.</a:t>
                </a:r>
                <a:endParaRPr lang="pt-PT" sz="800" noProof="0" dirty="0"/>
              </a:p>
            </p:txBody>
          </p:sp>
        </p:grp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A5874B83-D670-11E8-405F-9CA354F4336D}"/>
                </a:ext>
              </a:extLst>
            </p:cNvPr>
            <p:cNvGrpSpPr/>
            <p:nvPr/>
          </p:nvGrpSpPr>
          <p:grpSpPr>
            <a:xfrm>
              <a:off x="4694126" y="1821284"/>
              <a:ext cx="3453110" cy="1199703"/>
              <a:chOff x="4758680" y="1791965"/>
              <a:chExt cx="3453110" cy="1199703"/>
            </a:xfrm>
          </p:grpSpPr>
          <p:sp>
            <p:nvSpPr>
              <p:cNvPr id="12" name="Shape 9">
                <a:extLst>
                  <a:ext uri="{FF2B5EF4-FFF2-40B4-BE49-F238E27FC236}">
                    <a16:creationId xmlns:a16="http://schemas.microsoft.com/office/drawing/2014/main" id="{18AD33E5-91C3-AFAB-D673-F2DA3CDA8D35}"/>
                  </a:ext>
                </a:extLst>
              </p:cNvPr>
              <p:cNvSpPr/>
              <p:nvPr/>
            </p:nvSpPr>
            <p:spPr>
              <a:xfrm>
                <a:off x="4758680" y="1953220"/>
                <a:ext cx="3453110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3" name="Shape 10">
                <a:extLst>
                  <a:ext uri="{FF2B5EF4-FFF2-40B4-BE49-F238E27FC236}">
                    <a16:creationId xmlns:a16="http://schemas.microsoft.com/office/drawing/2014/main" id="{3063C676-8CD7-6431-6AF6-8D35B6F9E0E0}"/>
                  </a:ext>
                </a:extLst>
              </p:cNvPr>
              <p:cNvSpPr/>
              <p:nvPr/>
            </p:nvSpPr>
            <p:spPr>
              <a:xfrm>
                <a:off x="4758680" y="1938933"/>
                <a:ext cx="3453110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4" name="Shape 11">
                <a:extLst>
                  <a:ext uri="{FF2B5EF4-FFF2-40B4-BE49-F238E27FC236}">
                    <a16:creationId xmlns:a16="http://schemas.microsoft.com/office/drawing/2014/main" id="{A182C6BF-31A1-D786-D188-6E2853CA5FE3}"/>
                  </a:ext>
                </a:extLst>
              </p:cNvPr>
              <p:cNvSpPr/>
              <p:nvPr/>
            </p:nvSpPr>
            <p:spPr>
              <a:xfrm>
                <a:off x="6323943" y="1791965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6" name="Text 12">
                <a:extLst>
                  <a:ext uri="{FF2B5EF4-FFF2-40B4-BE49-F238E27FC236}">
                    <a16:creationId xmlns:a16="http://schemas.microsoft.com/office/drawing/2014/main" id="{2F0A9828-8B37-574F-3592-DB28A2F7F25B}"/>
                  </a:ext>
                </a:extLst>
              </p:cNvPr>
              <p:cNvSpPr/>
              <p:nvPr/>
            </p:nvSpPr>
            <p:spPr>
              <a:xfrm>
                <a:off x="4880496" y="2222004"/>
                <a:ext cx="3209479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ct val="104000"/>
                  </a:lnSpc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Camada de Dados</a:t>
                </a:r>
                <a:endParaRPr lang="pt-PT" sz="950" noProof="0" dirty="0"/>
              </a:p>
            </p:txBody>
          </p:sp>
          <p:sp>
            <p:nvSpPr>
              <p:cNvPr id="17" name="Text 13">
                <a:extLst>
                  <a:ext uri="{FF2B5EF4-FFF2-40B4-BE49-F238E27FC236}">
                    <a16:creationId xmlns:a16="http://schemas.microsoft.com/office/drawing/2014/main" id="{0C87C365-7A90-376E-E0A9-F5E24BD6662E}"/>
                  </a:ext>
                </a:extLst>
              </p:cNvPr>
              <p:cNvSpPr/>
              <p:nvPr/>
            </p:nvSpPr>
            <p:spPr>
              <a:xfrm>
                <a:off x="4880496" y="2426494"/>
                <a:ext cx="3209479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Uma variável de ambiente, DATA_LAYER, escolhe a implementação: qualquer valor diferente de "redis" resolve para PostgreSQL.</a:t>
                </a:r>
                <a:endParaRPr lang="pt-PT" sz="800" noProof="0" dirty="0"/>
              </a:p>
            </p:txBody>
          </p:sp>
          <p:pic>
            <p:nvPicPr>
              <p:cNvPr id="33" name="Image 4" descr="preencoded.png">
                <a:extLst>
                  <a:ext uri="{FF2B5EF4-FFF2-40B4-BE49-F238E27FC236}">
                    <a16:creationId xmlns:a16="http://schemas.microsoft.com/office/drawing/2014/main" id="{4309D7C6-D918-54E2-AFFF-6D68C7D3B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20681" y="1894858"/>
                <a:ext cx="129034" cy="129034"/>
              </a:xfrm>
              <a:prstGeom prst="rect">
                <a:avLst/>
              </a:prstGeom>
            </p:spPr>
          </p:pic>
        </p:grpSp>
      </p:grpSp>
      <p:sp>
        <p:nvSpPr>
          <p:cNvPr id="36" name="Shape 0">
            <a:extLst>
              <a:ext uri="{FF2B5EF4-FFF2-40B4-BE49-F238E27FC236}">
                <a16:creationId xmlns:a16="http://schemas.microsoft.com/office/drawing/2014/main" id="{2EA9616A-F5AC-7F6C-FCC1-47DD1F2D2B92}"/>
              </a:ext>
            </a:extLst>
          </p:cNvPr>
          <p:cNvSpPr/>
          <p:nvPr/>
        </p:nvSpPr>
        <p:spPr>
          <a:xfrm>
            <a:off x="474538" y="549846"/>
            <a:ext cx="881137" cy="256208"/>
          </a:xfrm>
          <a:prstGeom prst="roundRect">
            <a:avLst>
              <a:gd name="adj" fmla="val 6350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A633DC9C-C4FF-605E-54FF-855F9245A5CE}"/>
              </a:ext>
            </a:extLst>
          </p:cNvPr>
          <p:cNvSpPr/>
          <p:nvPr/>
        </p:nvSpPr>
        <p:spPr>
          <a:xfrm>
            <a:off x="560636" y="595238"/>
            <a:ext cx="1166143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pt-PT" sz="85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ARQUITETURA</a:t>
            </a:r>
            <a:endParaRPr lang="pt-PT" sz="850" noProof="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611D9BF7-A1D2-CF1C-D2F2-A0B52179C671}"/>
              </a:ext>
            </a:extLst>
          </p:cNvPr>
          <p:cNvSpPr/>
          <p:nvPr/>
        </p:nvSpPr>
        <p:spPr>
          <a:xfrm>
            <a:off x="474538" y="855166"/>
            <a:ext cx="471442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pt-PT" sz="2800" noProof="0" dirty="0" err="1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Arquitetura ao Serviço do Deployment</a:t>
            </a:r>
            <a:endParaRPr lang="pt-PT" sz="2800" noProof="0" dirty="0"/>
          </a:p>
        </p:txBody>
      </p:sp>
    </p:spTree>
    <p:extLst>
      <p:ext uri="{BB962C8B-B14F-4D97-AF65-F5344CB8AC3E}">
        <p14:creationId xmlns:p14="http://schemas.microsoft.com/office/powerpoint/2010/main" val="855687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552E-382E-85AE-28DE-3B86CDE53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>
            <a:extLst>
              <a:ext uri="{FF2B5EF4-FFF2-40B4-BE49-F238E27FC236}">
                <a16:creationId xmlns:a16="http://schemas.microsoft.com/office/drawing/2014/main" id="{8687B49D-E4D3-DC3A-2A56-F875C9319D56}"/>
              </a:ext>
            </a:extLst>
          </p:cNvPr>
          <p:cNvSpPr/>
          <p:nvPr/>
        </p:nvSpPr>
        <p:spPr>
          <a:xfrm>
            <a:off x="474538" y="549846"/>
            <a:ext cx="881137" cy="256208"/>
          </a:xfrm>
          <a:prstGeom prst="roundRect">
            <a:avLst>
              <a:gd name="adj" fmla="val 6350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47D5E64A-6682-9D04-3FDF-54599B1B5D1B}"/>
              </a:ext>
            </a:extLst>
          </p:cNvPr>
          <p:cNvSpPr/>
          <p:nvPr/>
        </p:nvSpPr>
        <p:spPr>
          <a:xfrm>
            <a:off x="560636" y="595238"/>
            <a:ext cx="1166143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pt-PT" sz="85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ARQUITETURA</a:t>
            </a:r>
            <a:endParaRPr lang="pt-PT" sz="850" noProof="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D3C445D0-91BA-91A6-1F1F-6F66566D85F4}"/>
              </a:ext>
            </a:extLst>
          </p:cNvPr>
          <p:cNvSpPr/>
          <p:nvPr/>
        </p:nvSpPr>
        <p:spPr>
          <a:xfrm>
            <a:off x="474538" y="855166"/>
            <a:ext cx="471442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PT" sz="2500" noProof="0" dirty="0" err="1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Frontend</a:t>
            </a:r>
            <a:r>
              <a:rPr lang="pt-PT" sz="250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- Next.js App Router</a:t>
            </a:r>
            <a:endParaRPr lang="pt-PT" sz="2500" noProof="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4CD7D991-602E-420D-23D7-AB92C04C5E07}"/>
              </a:ext>
            </a:extLst>
          </p:cNvPr>
          <p:cNvSpPr/>
          <p:nvPr/>
        </p:nvSpPr>
        <p:spPr>
          <a:xfrm>
            <a:off x="474538" y="1438126"/>
            <a:ext cx="819492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pt-PT" sz="10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interface do EduCal é construída com Next.js 16, aproveitando as funcionalidades do App Router para uma experiência de utilizador moderna.</a:t>
            </a:r>
            <a:endParaRPr lang="pt-PT" sz="1050" noProof="0" dirty="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9205B307-E3F3-93D6-DB7B-065E8AF359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538" y="1989758"/>
            <a:ext cx="338956" cy="338956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AAF341D0-296F-0EA6-C573-47A3CBABD809}"/>
              </a:ext>
            </a:extLst>
          </p:cNvPr>
          <p:cNvSpPr/>
          <p:nvPr/>
        </p:nvSpPr>
        <p:spPr>
          <a:xfrm>
            <a:off x="474538" y="2482304"/>
            <a:ext cx="263210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PT" sz="12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Arquitetura Next.js App Router</a:t>
            </a:r>
            <a:endParaRPr lang="pt-PT" sz="1250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2EFACD24-EE8A-B0E2-4273-7D0DAEB8BB57}"/>
              </a:ext>
            </a:extLst>
          </p:cNvPr>
          <p:cNvSpPr/>
          <p:nvPr/>
        </p:nvSpPr>
        <p:spPr>
          <a:xfrm>
            <a:off x="474538" y="2755404"/>
            <a:ext cx="4020666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Combinação de Server </a:t>
            </a:r>
            <a:r>
              <a:rPr lang="pt-PT" sz="1000" noProof="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Components</a:t>
            </a: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para </a:t>
            </a:r>
            <a:r>
              <a:rPr lang="pt-PT" sz="1000" noProof="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renderização</a:t>
            </a: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inicial e </a:t>
            </a:r>
            <a:r>
              <a:rPr lang="pt-PT" sz="1000" noProof="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Client</a:t>
            </a: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pt-PT" sz="1000" noProof="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Components</a:t>
            </a: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para interatividade, otimizando o carregamento.</a:t>
            </a:r>
            <a:endParaRPr lang="pt-PT" sz="1000" noProof="0" dirty="0"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702BC627-4908-960D-6152-1B0896316C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795" y="1989758"/>
            <a:ext cx="338956" cy="338956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E1896782-CAD7-F846-46B6-F5789F2647DF}"/>
              </a:ext>
            </a:extLst>
          </p:cNvPr>
          <p:cNvSpPr/>
          <p:nvPr/>
        </p:nvSpPr>
        <p:spPr>
          <a:xfrm>
            <a:off x="4648795" y="2482304"/>
            <a:ext cx="2829818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PT" sz="12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Estrutura de Componentes </a:t>
            </a:r>
            <a:r>
              <a:rPr lang="pt-PT" sz="1250" noProof="0" dirty="0" err="1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React</a:t>
            </a:r>
            <a:endParaRPr lang="pt-PT" sz="1250" noProof="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83A6288-2757-AEA5-A01F-732A457B1BCC}"/>
              </a:ext>
            </a:extLst>
          </p:cNvPr>
          <p:cNvSpPr/>
          <p:nvPr/>
        </p:nvSpPr>
        <p:spPr>
          <a:xfrm>
            <a:off x="4648795" y="2755404"/>
            <a:ext cx="4020666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pt-PT" sz="10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Componentes reutilizáveis com shadcn/ui e Tailwind CSS v4, organizados por funcionalidade (calendário, autenticação, notificações).</a:t>
            </a:r>
            <a:endParaRPr lang="pt-PT" sz="1050" noProof="0" dirty="0"/>
          </a:p>
        </p:txBody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F1E792FF-5EAA-048D-9D83-944AB4922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538" y="3414564"/>
            <a:ext cx="338956" cy="338956"/>
          </a:xfrm>
          <a:prstGeom prst="rect">
            <a:avLst/>
          </a:prstGeom>
        </p:spPr>
      </p:pic>
      <p:sp>
        <p:nvSpPr>
          <p:cNvPr id="26" name="Text 8">
            <a:extLst>
              <a:ext uri="{FF2B5EF4-FFF2-40B4-BE49-F238E27FC236}">
                <a16:creationId xmlns:a16="http://schemas.microsoft.com/office/drawing/2014/main" id="{087ACA14-0F70-7265-0AC8-EE882614C2D5}"/>
              </a:ext>
            </a:extLst>
          </p:cNvPr>
          <p:cNvSpPr/>
          <p:nvPr/>
        </p:nvSpPr>
        <p:spPr>
          <a:xfrm>
            <a:off x="474538" y="3907110"/>
            <a:ext cx="20522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PT" sz="12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Interface Intuitiva</a:t>
            </a:r>
            <a:endParaRPr lang="pt-PT" sz="1250" noProof="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FE5F3076-1D18-382B-1E93-474D46071C39}"/>
              </a:ext>
            </a:extLst>
          </p:cNvPr>
          <p:cNvSpPr/>
          <p:nvPr/>
        </p:nvSpPr>
        <p:spPr>
          <a:xfrm>
            <a:off x="474538" y="4180210"/>
            <a:ext cx="4020666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Cinco vistas (Agenda, Dia, Semana, Mês, Ano) para ajustar a densidade de informação, com tema claro/escuro.</a:t>
            </a:r>
            <a:endParaRPr lang="pt-PT" sz="1000" noProof="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57F8F628-790D-A0CE-8C49-AED746F67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8795" y="3414564"/>
            <a:ext cx="338956" cy="338956"/>
          </a:xfrm>
          <a:prstGeom prst="rect">
            <a:avLst/>
          </a:prstGeom>
        </p:spPr>
      </p:pic>
      <p:sp>
        <p:nvSpPr>
          <p:cNvPr id="29" name="Text 10">
            <a:extLst>
              <a:ext uri="{FF2B5EF4-FFF2-40B4-BE49-F238E27FC236}">
                <a16:creationId xmlns:a16="http://schemas.microsoft.com/office/drawing/2014/main" id="{DB00FD51-B29C-5B03-1526-0C62B4308914}"/>
              </a:ext>
            </a:extLst>
          </p:cNvPr>
          <p:cNvSpPr/>
          <p:nvPr/>
        </p:nvSpPr>
        <p:spPr>
          <a:xfrm>
            <a:off x="4648795" y="3907110"/>
            <a:ext cx="2228627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PT" sz="12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Validação de Formulários</a:t>
            </a:r>
            <a:endParaRPr lang="pt-PT" sz="1250" noProof="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967463A6-49A4-AA84-8F27-4DD19E24434C}"/>
              </a:ext>
            </a:extLst>
          </p:cNvPr>
          <p:cNvSpPr/>
          <p:nvPr/>
        </p:nvSpPr>
        <p:spPr>
          <a:xfrm>
            <a:off x="4648795" y="4180210"/>
            <a:ext cx="4020666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react-hook-form com resolvers Zod, reutilizando o mesmo schema de validação do backend no cliente e no servidor.</a:t>
            </a:r>
            <a:endParaRPr lang="pt-PT" sz="1000" noProof="0" dirty="0"/>
          </a:p>
        </p:txBody>
      </p:sp>
    </p:spTree>
    <p:extLst>
      <p:ext uri="{BB962C8B-B14F-4D97-AF65-F5344CB8AC3E}">
        <p14:creationId xmlns:p14="http://schemas.microsoft.com/office/powerpoint/2010/main" val="3683561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CA6C-6562-A729-D49E-54225987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Agrupar 38">
            <a:extLst>
              <a:ext uri="{FF2B5EF4-FFF2-40B4-BE49-F238E27FC236}">
                <a16:creationId xmlns:a16="http://schemas.microsoft.com/office/drawing/2014/main" id="{0EBD7A7F-6D4A-65B5-7884-BB729D30A073}"/>
              </a:ext>
            </a:extLst>
          </p:cNvPr>
          <p:cNvGrpSpPr/>
          <p:nvPr/>
        </p:nvGrpSpPr>
        <p:grpSpPr>
          <a:xfrm>
            <a:off x="871340" y="1821284"/>
            <a:ext cx="7401471" cy="2595562"/>
            <a:chOff x="745765" y="1819497"/>
            <a:chExt cx="7401471" cy="2595562"/>
          </a:xfrm>
        </p:grpSpPr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88D026C3-9320-6ABC-F3E3-3EB55AE6C88E}"/>
                </a:ext>
              </a:extLst>
            </p:cNvPr>
            <p:cNvGrpSpPr/>
            <p:nvPr/>
          </p:nvGrpSpPr>
          <p:grpSpPr>
            <a:xfrm>
              <a:off x="745765" y="1819497"/>
              <a:ext cx="3453036" cy="1199703"/>
              <a:chOff x="810394" y="1780355"/>
              <a:chExt cx="3453036" cy="1199703"/>
            </a:xfrm>
          </p:grpSpPr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40E527CA-2120-761E-60F2-56231D258C55}"/>
                  </a:ext>
                </a:extLst>
              </p:cNvPr>
              <p:cNvSpPr/>
              <p:nvPr/>
            </p:nvSpPr>
            <p:spPr>
              <a:xfrm>
                <a:off x="810394" y="1941610"/>
                <a:ext cx="3453036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7" name="Shape 5">
                <a:extLst>
                  <a:ext uri="{FF2B5EF4-FFF2-40B4-BE49-F238E27FC236}">
                    <a16:creationId xmlns:a16="http://schemas.microsoft.com/office/drawing/2014/main" id="{B50CED5F-D29F-0D25-DA47-F6F8067E8415}"/>
                  </a:ext>
                </a:extLst>
              </p:cNvPr>
              <p:cNvSpPr/>
              <p:nvPr/>
            </p:nvSpPr>
            <p:spPr>
              <a:xfrm>
                <a:off x="810394" y="1927323"/>
                <a:ext cx="3453036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8" name="Shape 6">
                <a:extLst>
                  <a:ext uri="{FF2B5EF4-FFF2-40B4-BE49-F238E27FC236}">
                    <a16:creationId xmlns:a16="http://schemas.microsoft.com/office/drawing/2014/main" id="{E3D298B4-BAD6-7C43-52DE-01E4A2DEA093}"/>
                  </a:ext>
                </a:extLst>
              </p:cNvPr>
              <p:cNvSpPr/>
              <p:nvPr/>
            </p:nvSpPr>
            <p:spPr>
              <a:xfrm>
                <a:off x="2375582" y="1780355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9" name="Image 0" descr="preencoded.png">
                <a:extLst>
                  <a:ext uri="{FF2B5EF4-FFF2-40B4-BE49-F238E27FC236}">
                    <a16:creationId xmlns:a16="http://schemas.microsoft.com/office/drawing/2014/main" id="{7F6FD5D4-EEA4-A42C-283B-547FD9E7DA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472320" y="1877093"/>
                <a:ext cx="129034" cy="129034"/>
              </a:xfrm>
              <a:prstGeom prst="rect">
                <a:avLst/>
              </a:prstGeom>
            </p:spPr>
          </p:pic>
          <p:sp>
            <p:nvSpPr>
              <p:cNvPr id="10" name="Text 7">
                <a:extLst>
                  <a:ext uri="{FF2B5EF4-FFF2-40B4-BE49-F238E27FC236}">
                    <a16:creationId xmlns:a16="http://schemas.microsoft.com/office/drawing/2014/main" id="{E5764B5D-6758-2FF4-AEE9-212D01922FA2}"/>
                  </a:ext>
                </a:extLst>
              </p:cNvPr>
              <p:cNvSpPr/>
              <p:nvPr/>
            </p:nvSpPr>
            <p:spPr>
              <a:xfrm>
                <a:off x="932209" y="2210394"/>
                <a:ext cx="3209403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Interface &amp; Estilo</a:t>
                </a:r>
                <a:endParaRPr lang="pt-PT" sz="950" noProof="0" dirty="0"/>
              </a:p>
            </p:txBody>
          </p:sp>
          <p:sp>
            <p:nvSpPr>
              <p:cNvPr id="11" name="Text 8">
                <a:extLst>
                  <a:ext uri="{FF2B5EF4-FFF2-40B4-BE49-F238E27FC236}">
                    <a16:creationId xmlns:a16="http://schemas.microsoft.com/office/drawing/2014/main" id="{D2514EA4-5841-B439-CCE8-742825D84FA1}"/>
                  </a:ext>
                </a:extLst>
              </p:cNvPr>
              <p:cNvSpPr/>
              <p:nvPr/>
            </p:nvSpPr>
            <p:spPr>
              <a:xfrm>
                <a:off x="932210" y="2414884"/>
                <a:ext cx="3209404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Next.js 16 (App Router) · TypeScript · Tailwind CSS v4 · shadcn/ui sobre Radix UI.</a:t>
                </a:r>
                <a:endParaRPr lang="pt-PT" sz="800" noProof="0" dirty="0"/>
              </a:p>
            </p:txBody>
          </p:sp>
        </p:grpSp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7626B983-F08D-B8D7-6197-A73F02103784}"/>
                </a:ext>
              </a:extLst>
            </p:cNvPr>
            <p:cNvGrpSpPr/>
            <p:nvPr/>
          </p:nvGrpSpPr>
          <p:grpSpPr>
            <a:xfrm>
              <a:off x="745840" y="3209997"/>
              <a:ext cx="3453036" cy="1199704"/>
              <a:chOff x="810394" y="3051942"/>
              <a:chExt cx="3453036" cy="1199704"/>
            </a:xfrm>
          </p:grpSpPr>
          <p:sp>
            <p:nvSpPr>
              <p:cNvPr id="18" name="Shape 14">
                <a:extLst>
                  <a:ext uri="{FF2B5EF4-FFF2-40B4-BE49-F238E27FC236}">
                    <a16:creationId xmlns:a16="http://schemas.microsoft.com/office/drawing/2014/main" id="{3A2936CB-9C60-7C5C-3F59-4125803FF029}"/>
                  </a:ext>
                </a:extLst>
              </p:cNvPr>
              <p:cNvSpPr/>
              <p:nvPr/>
            </p:nvSpPr>
            <p:spPr>
              <a:xfrm>
                <a:off x="810394" y="3213198"/>
                <a:ext cx="3453036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9" name="Shape 15">
                <a:extLst>
                  <a:ext uri="{FF2B5EF4-FFF2-40B4-BE49-F238E27FC236}">
                    <a16:creationId xmlns:a16="http://schemas.microsoft.com/office/drawing/2014/main" id="{948F899F-D348-BFB4-1EA8-D1C490C8EDB5}"/>
                  </a:ext>
                </a:extLst>
              </p:cNvPr>
              <p:cNvSpPr/>
              <p:nvPr/>
            </p:nvSpPr>
            <p:spPr>
              <a:xfrm>
                <a:off x="810394" y="3198910"/>
                <a:ext cx="3453036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0" name="Shape 16">
                <a:extLst>
                  <a:ext uri="{FF2B5EF4-FFF2-40B4-BE49-F238E27FC236}">
                    <a16:creationId xmlns:a16="http://schemas.microsoft.com/office/drawing/2014/main" id="{E2673AA3-3BFB-AB3C-4C5A-7C44A0E5F75F}"/>
                  </a:ext>
                </a:extLst>
              </p:cNvPr>
              <p:cNvSpPr/>
              <p:nvPr/>
            </p:nvSpPr>
            <p:spPr>
              <a:xfrm>
                <a:off x="2375582" y="3051942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21" name="Image 2" descr="preencoded.png">
                <a:extLst>
                  <a:ext uri="{FF2B5EF4-FFF2-40B4-BE49-F238E27FC236}">
                    <a16:creationId xmlns:a16="http://schemas.microsoft.com/office/drawing/2014/main" id="{9DEF1D2B-6B89-2836-9262-13AC19798E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72320" y="3148681"/>
                <a:ext cx="129034" cy="129034"/>
              </a:xfrm>
              <a:prstGeom prst="rect">
                <a:avLst/>
              </a:prstGeom>
            </p:spPr>
          </p:pic>
          <p:sp>
            <p:nvSpPr>
              <p:cNvPr id="22" name="Text 17">
                <a:extLst>
                  <a:ext uri="{FF2B5EF4-FFF2-40B4-BE49-F238E27FC236}">
                    <a16:creationId xmlns:a16="http://schemas.microsoft.com/office/drawing/2014/main" id="{34C54C1A-EBED-40B7-4B22-4CE07A59EE09}"/>
                  </a:ext>
                </a:extLst>
              </p:cNvPr>
              <p:cNvSpPr/>
              <p:nvPr/>
            </p:nvSpPr>
            <p:spPr>
              <a:xfrm>
                <a:off x="932210" y="3481981"/>
                <a:ext cx="3209404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API &amp; Dados</a:t>
                </a:r>
                <a:endParaRPr lang="pt-PT" sz="950" noProof="0" dirty="0"/>
              </a:p>
            </p:txBody>
          </p:sp>
          <p:sp>
            <p:nvSpPr>
              <p:cNvPr id="23" name="Text 18">
                <a:extLst>
                  <a:ext uri="{FF2B5EF4-FFF2-40B4-BE49-F238E27FC236}">
                    <a16:creationId xmlns:a16="http://schemas.microsoft.com/office/drawing/2014/main" id="{00E39666-131A-6619-EF85-10D62807C72D}"/>
                  </a:ext>
                </a:extLst>
              </p:cNvPr>
              <p:cNvSpPr/>
              <p:nvPr/>
            </p:nvSpPr>
            <p:spPr>
              <a:xfrm>
                <a:off x="932210" y="3686471"/>
                <a:ext cx="3209404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Next.js API Routes · Drizzle ORM · PostgreSQL · Zod para validação · scrypt (Node crypto) para passwords.</a:t>
                </a:r>
                <a:endParaRPr lang="pt-PT" sz="800" noProof="0" dirty="0"/>
              </a:p>
            </p:txBody>
          </p:sp>
        </p:grpSp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17DAA023-20B7-25ED-80BB-F272CFEC644B}"/>
                </a:ext>
              </a:extLst>
            </p:cNvPr>
            <p:cNvGrpSpPr/>
            <p:nvPr/>
          </p:nvGrpSpPr>
          <p:grpSpPr>
            <a:xfrm>
              <a:off x="4694126" y="3215355"/>
              <a:ext cx="3453110" cy="1199704"/>
              <a:chOff x="4758680" y="3057300"/>
              <a:chExt cx="3453110" cy="1199704"/>
            </a:xfrm>
          </p:grpSpPr>
          <p:sp>
            <p:nvSpPr>
              <p:cNvPr id="24" name="Shape 19">
                <a:extLst>
                  <a:ext uri="{FF2B5EF4-FFF2-40B4-BE49-F238E27FC236}">
                    <a16:creationId xmlns:a16="http://schemas.microsoft.com/office/drawing/2014/main" id="{D6CD0ACF-C712-3127-9094-916D083B4ABF}"/>
                  </a:ext>
                </a:extLst>
              </p:cNvPr>
              <p:cNvSpPr/>
              <p:nvPr/>
            </p:nvSpPr>
            <p:spPr>
              <a:xfrm>
                <a:off x="4758680" y="3218556"/>
                <a:ext cx="3453110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5" name="Shape 20">
                <a:extLst>
                  <a:ext uri="{FF2B5EF4-FFF2-40B4-BE49-F238E27FC236}">
                    <a16:creationId xmlns:a16="http://schemas.microsoft.com/office/drawing/2014/main" id="{53DDD076-A5A1-8DD6-BDC6-633B168C62A0}"/>
                  </a:ext>
                </a:extLst>
              </p:cNvPr>
              <p:cNvSpPr/>
              <p:nvPr/>
            </p:nvSpPr>
            <p:spPr>
              <a:xfrm>
                <a:off x="4758680" y="3204268"/>
                <a:ext cx="3453110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6" name="Shape 21">
                <a:extLst>
                  <a:ext uri="{FF2B5EF4-FFF2-40B4-BE49-F238E27FC236}">
                    <a16:creationId xmlns:a16="http://schemas.microsoft.com/office/drawing/2014/main" id="{E03D0808-B0C1-217F-7AE8-79571547A9E7}"/>
                  </a:ext>
                </a:extLst>
              </p:cNvPr>
              <p:cNvSpPr/>
              <p:nvPr/>
            </p:nvSpPr>
            <p:spPr>
              <a:xfrm>
                <a:off x="6323943" y="3057300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27" name="Image 3" descr="preencoded.png">
                <a:extLst>
                  <a:ext uri="{FF2B5EF4-FFF2-40B4-BE49-F238E27FC236}">
                    <a16:creationId xmlns:a16="http://schemas.microsoft.com/office/drawing/2014/main" id="{29B41BEE-4D24-F22C-F4A2-CAC508FF59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420681" y="3154039"/>
                <a:ext cx="129034" cy="129034"/>
              </a:xfrm>
              <a:prstGeom prst="rect">
                <a:avLst/>
              </a:prstGeom>
            </p:spPr>
          </p:pic>
          <p:sp>
            <p:nvSpPr>
              <p:cNvPr id="28" name="Text 22">
                <a:extLst>
                  <a:ext uri="{FF2B5EF4-FFF2-40B4-BE49-F238E27FC236}">
                    <a16:creationId xmlns:a16="http://schemas.microsoft.com/office/drawing/2014/main" id="{000770EA-CB37-1E2A-8808-C5CFAE7F4C52}"/>
                  </a:ext>
                </a:extLst>
              </p:cNvPr>
              <p:cNvSpPr/>
              <p:nvPr/>
            </p:nvSpPr>
            <p:spPr>
              <a:xfrm>
                <a:off x="4880496" y="3487339"/>
                <a:ext cx="3209479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Build, Datas &amp; Testes</a:t>
                </a:r>
                <a:endParaRPr lang="pt-PT" sz="950" noProof="0" dirty="0"/>
              </a:p>
            </p:txBody>
          </p:sp>
          <p:sp>
            <p:nvSpPr>
              <p:cNvPr id="29" name="Text 23">
                <a:extLst>
                  <a:ext uri="{FF2B5EF4-FFF2-40B4-BE49-F238E27FC236}">
                    <a16:creationId xmlns:a16="http://schemas.microsoft.com/office/drawing/2014/main" id="{0908BB3E-BEB7-23BE-D545-F71F1B1A496D}"/>
                  </a:ext>
                </a:extLst>
              </p:cNvPr>
              <p:cNvSpPr/>
              <p:nvPr/>
            </p:nvSpPr>
            <p:spPr>
              <a:xfrm>
                <a:off x="4880496" y="3691829"/>
                <a:ext cx="3209479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pnpm como gestor de pacotes · date-fns e date-holidays · Vitest com @vitest/coverage-v8.</a:t>
                </a:r>
                <a:endParaRPr lang="pt-PT" sz="800" noProof="0" dirty="0"/>
              </a:p>
            </p:txBody>
          </p:sp>
        </p:grp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A5874B83-D670-11E8-405F-9CA354F4336D}"/>
                </a:ext>
              </a:extLst>
            </p:cNvPr>
            <p:cNvGrpSpPr/>
            <p:nvPr/>
          </p:nvGrpSpPr>
          <p:grpSpPr>
            <a:xfrm>
              <a:off x="4694126" y="1821284"/>
              <a:ext cx="3453110" cy="1199703"/>
              <a:chOff x="4758680" y="1791965"/>
              <a:chExt cx="3453110" cy="1199703"/>
            </a:xfrm>
          </p:grpSpPr>
          <p:sp>
            <p:nvSpPr>
              <p:cNvPr id="12" name="Shape 9">
                <a:extLst>
                  <a:ext uri="{FF2B5EF4-FFF2-40B4-BE49-F238E27FC236}">
                    <a16:creationId xmlns:a16="http://schemas.microsoft.com/office/drawing/2014/main" id="{18AD33E5-91C3-AFAB-D673-F2DA3CDA8D35}"/>
                  </a:ext>
                </a:extLst>
              </p:cNvPr>
              <p:cNvSpPr/>
              <p:nvPr/>
            </p:nvSpPr>
            <p:spPr>
              <a:xfrm>
                <a:off x="4758680" y="1953220"/>
                <a:ext cx="3453110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3" name="Shape 10">
                <a:extLst>
                  <a:ext uri="{FF2B5EF4-FFF2-40B4-BE49-F238E27FC236}">
                    <a16:creationId xmlns:a16="http://schemas.microsoft.com/office/drawing/2014/main" id="{3063C676-8CD7-6431-6AF6-8D35B6F9E0E0}"/>
                  </a:ext>
                </a:extLst>
              </p:cNvPr>
              <p:cNvSpPr/>
              <p:nvPr/>
            </p:nvSpPr>
            <p:spPr>
              <a:xfrm>
                <a:off x="4758680" y="1938933"/>
                <a:ext cx="3453110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4" name="Shape 11">
                <a:extLst>
                  <a:ext uri="{FF2B5EF4-FFF2-40B4-BE49-F238E27FC236}">
                    <a16:creationId xmlns:a16="http://schemas.microsoft.com/office/drawing/2014/main" id="{A182C6BF-31A1-D786-D188-6E2853CA5FE3}"/>
                  </a:ext>
                </a:extLst>
              </p:cNvPr>
              <p:cNvSpPr/>
              <p:nvPr/>
            </p:nvSpPr>
            <p:spPr>
              <a:xfrm>
                <a:off x="6323943" y="1791965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6" name="Text 12">
                <a:extLst>
                  <a:ext uri="{FF2B5EF4-FFF2-40B4-BE49-F238E27FC236}">
                    <a16:creationId xmlns:a16="http://schemas.microsoft.com/office/drawing/2014/main" id="{2F0A9828-8B37-574F-3592-DB28A2F7F25B}"/>
                  </a:ext>
                </a:extLst>
              </p:cNvPr>
              <p:cNvSpPr/>
              <p:nvPr/>
            </p:nvSpPr>
            <p:spPr>
              <a:xfrm>
                <a:off x="4880496" y="2222004"/>
                <a:ext cx="3209479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ct val="104000"/>
                  </a:lnSpc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Formulários &amp; Interação</a:t>
                </a:r>
                <a:endParaRPr lang="pt-PT" sz="950" noProof="0" dirty="0"/>
              </a:p>
            </p:txBody>
          </p:sp>
          <p:sp>
            <p:nvSpPr>
              <p:cNvPr id="17" name="Text 13">
                <a:extLst>
                  <a:ext uri="{FF2B5EF4-FFF2-40B4-BE49-F238E27FC236}">
                    <a16:creationId xmlns:a16="http://schemas.microsoft.com/office/drawing/2014/main" id="{0C87C365-7A90-376E-E0A9-F5E24BD6662E}"/>
                  </a:ext>
                </a:extLst>
              </p:cNvPr>
              <p:cNvSpPr/>
              <p:nvPr/>
            </p:nvSpPr>
            <p:spPr>
              <a:xfrm>
                <a:off x="4880496" y="2426494"/>
                <a:ext cx="3209479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algn="just">
                  <a:lnSpc>
                    <a:spcPct val="115000"/>
                  </a:lnSpc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react-hook-form com resolvers Zod · framer-motion · re-resizable · sonner para notificações toast.</a:t>
                </a:r>
                <a:endParaRPr lang="pt-PT" sz="800" noProof="0" dirty="0"/>
              </a:p>
            </p:txBody>
          </p:sp>
          <p:pic>
            <p:nvPicPr>
              <p:cNvPr id="33" name="Image 4" descr="preencoded.png">
                <a:extLst>
                  <a:ext uri="{FF2B5EF4-FFF2-40B4-BE49-F238E27FC236}">
                    <a16:creationId xmlns:a16="http://schemas.microsoft.com/office/drawing/2014/main" id="{4309D7C6-D918-54E2-AFFF-6D68C7D3B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20681" y="1894858"/>
                <a:ext cx="129034" cy="129034"/>
              </a:xfrm>
              <a:prstGeom prst="rect">
                <a:avLst/>
              </a:prstGeom>
            </p:spPr>
          </p:pic>
        </p:grpSp>
      </p:grpSp>
      <p:sp>
        <p:nvSpPr>
          <p:cNvPr id="36" name="Shape 0">
            <a:extLst>
              <a:ext uri="{FF2B5EF4-FFF2-40B4-BE49-F238E27FC236}">
                <a16:creationId xmlns:a16="http://schemas.microsoft.com/office/drawing/2014/main" id="{2EA9616A-F5AC-7F6C-FCC1-47DD1F2D2B92}"/>
              </a:ext>
            </a:extLst>
          </p:cNvPr>
          <p:cNvSpPr/>
          <p:nvPr/>
        </p:nvSpPr>
        <p:spPr>
          <a:xfrm>
            <a:off x="474538" y="549846"/>
            <a:ext cx="881137" cy="256208"/>
          </a:xfrm>
          <a:prstGeom prst="roundRect">
            <a:avLst>
              <a:gd name="adj" fmla="val 6350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A633DC9C-C4FF-605E-54FF-855F9245A5CE}"/>
              </a:ext>
            </a:extLst>
          </p:cNvPr>
          <p:cNvSpPr/>
          <p:nvPr/>
        </p:nvSpPr>
        <p:spPr>
          <a:xfrm>
            <a:off x="560636" y="595238"/>
            <a:ext cx="1166143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pt-PT" sz="85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ARQUITETURA</a:t>
            </a:r>
            <a:endParaRPr lang="pt-PT" sz="850" noProof="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611D9BF7-A1D2-CF1C-D2F2-A0B52179C671}"/>
              </a:ext>
            </a:extLst>
          </p:cNvPr>
          <p:cNvSpPr/>
          <p:nvPr/>
        </p:nvSpPr>
        <p:spPr>
          <a:xfrm>
            <a:off x="474538" y="855166"/>
            <a:ext cx="471442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pt-PT" sz="2800" noProof="0" dirty="0" err="1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Stack Tecnológico Completo</a:t>
            </a:r>
            <a:endParaRPr lang="pt-PT" sz="2800" noProof="0" dirty="0"/>
          </a:p>
        </p:txBody>
      </p:sp>
    </p:spTree>
    <p:extLst>
      <p:ext uri="{BB962C8B-B14F-4D97-AF65-F5344CB8AC3E}">
        <p14:creationId xmlns:p14="http://schemas.microsoft.com/office/powerpoint/2010/main" val="855687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CA6C-6562-A729-D49E-54225987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Agrupar 38">
            <a:extLst>
              <a:ext uri="{FF2B5EF4-FFF2-40B4-BE49-F238E27FC236}">
                <a16:creationId xmlns:a16="http://schemas.microsoft.com/office/drawing/2014/main" id="{0EBD7A7F-6D4A-65B5-7884-BB729D30A073}"/>
              </a:ext>
            </a:extLst>
          </p:cNvPr>
          <p:cNvGrpSpPr/>
          <p:nvPr/>
        </p:nvGrpSpPr>
        <p:grpSpPr>
          <a:xfrm>
            <a:off x="871340" y="1821284"/>
            <a:ext cx="7401471" cy="2595562"/>
            <a:chOff x="745765" y="1819497"/>
            <a:chExt cx="7401471" cy="2595562"/>
          </a:xfrm>
        </p:grpSpPr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88D026C3-9320-6ABC-F3E3-3EB55AE6C88E}"/>
                </a:ext>
              </a:extLst>
            </p:cNvPr>
            <p:cNvGrpSpPr/>
            <p:nvPr/>
          </p:nvGrpSpPr>
          <p:grpSpPr>
            <a:xfrm>
              <a:off x="745765" y="1819497"/>
              <a:ext cx="3453036" cy="1199703"/>
              <a:chOff x="810394" y="1780355"/>
              <a:chExt cx="3453036" cy="1199703"/>
            </a:xfrm>
          </p:grpSpPr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40E527CA-2120-761E-60F2-56231D258C55}"/>
                  </a:ext>
                </a:extLst>
              </p:cNvPr>
              <p:cNvSpPr/>
              <p:nvPr/>
            </p:nvSpPr>
            <p:spPr>
              <a:xfrm>
                <a:off x="810394" y="1941610"/>
                <a:ext cx="3453036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7" name="Shape 5">
                <a:extLst>
                  <a:ext uri="{FF2B5EF4-FFF2-40B4-BE49-F238E27FC236}">
                    <a16:creationId xmlns:a16="http://schemas.microsoft.com/office/drawing/2014/main" id="{B50CED5F-D29F-0D25-DA47-F6F8067E8415}"/>
                  </a:ext>
                </a:extLst>
              </p:cNvPr>
              <p:cNvSpPr/>
              <p:nvPr/>
            </p:nvSpPr>
            <p:spPr>
              <a:xfrm>
                <a:off x="810394" y="1927323"/>
                <a:ext cx="3453036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8" name="Shape 6">
                <a:extLst>
                  <a:ext uri="{FF2B5EF4-FFF2-40B4-BE49-F238E27FC236}">
                    <a16:creationId xmlns:a16="http://schemas.microsoft.com/office/drawing/2014/main" id="{E3D298B4-BAD6-7C43-52DE-01E4A2DEA093}"/>
                  </a:ext>
                </a:extLst>
              </p:cNvPr>
              <p:cNvSpPr/>
              <p:nvPr/>
            </p:nvSpPr>
            <p:spPr>
              <a:xfrm>
                <a:off x="2375582" y="1780355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9" name="Image 0" descr="preencoded.png">
                <a:extLst>
                  <a:ext uri="{FF2B5EF4-FFF2-40B4-BE49-F238E27FC236}">
                    <a16:creationId xmlns:a16="http://schemas.microsoft.com/office/drawing/2014/main" id="{7F6FD5D4-EEA4-A42C-283B-547FD9E7DA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72320" y="1877093"/>
                <a:ext cx="129034" cy="129034"/>
              </a:xfrm>
              <a:prstGeom prst="rect">
                <a:avLst/>
              </a:prstGeom>
            </p:spPr>
          </p:pic>
          <p:sp>
            <p:nvSpPr>
              <p:cNvPr id="10" name="Text 7">
                <a:extLst>
                  <a:ext uri="{FF2B5EF4-FFF2-40B4-BE49-F238E27FC236}">
                    <a16:creationId xmlns:a16="http://schemas.microsoft.com/office/drawing/2014/main" id="{E5764B5D-6758-2FF4-AEE9-212D01922FA2}"/>
                  </a:ext>
                </a:extLst>
              </p:cNvPr>
              <p:cNvSpPr/>
              <p:nvPr/>
            </p:nvSpPr>
            <p:spPr>
              <a:xfrm>
                <a:off x="932209" y="2210394"/>
                <a:ext cx="3209403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Controller · Service · Data</a:t>
                </a:r>
                <a:endParaRPr lang="pt-PT" sz="950" noProof="0" dirty="0"/>
              </a:p>
            </p:txBody>
          </p:sp>
          <p:sp>
            <p:nvSpPr>
              <p:cNvPr id="11" name="Text 8">
                <a:extLst>
                  <a:ext uri="{FF2B5EF4-FFF2-40B4-BE49-F238E27FC236}">
                    <a16:creationId xmlns:a16="http://schemas.microsoft.com/office/drawing/2014/main" id="{D2514EA4-5841-B439-CCE8-742825D84FA1}"/>
                  </a:ext>
                </a:extLst>
              </p:cNvPr>
              <p:cNvSpPr/>
              <p:nvPr/>
            </p:nvSpPr>
            <p:spPr>
              <a:xfrm>
                <a:off x="932210" y="2414884"/>
                <a:ext cx="3209404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Cada feature (auth, calendar, notifications) segue a mesma estrutura: o controller só delega, a lógica de negócio fica isolada no serviço.</a:t>
                </a:r>
                <a:endParaRPr lang="pt-PT" sz="800" noProof="0" dirty="0"/>
              </a:p>
            </p:txBody>
          </p:sp>
        </p:grpSp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7626B983-F08D-B8D7-6197-A73F02103784}"/>
                </a:ext>
              </a:extLst>
            </p:cNvPr>
            <p:cNvGrpSpPr/>
            <p:nvPr/>
          </p:nvGrpSpPr>
          <p:grpSpPr>
            <a:xfrm>
              <a:off x="745840" y="3209997"/>
              <a:ext cx="3453036" cy="1199704"/>
              <a:chOff x="810394" y="3051942"/>
              <a:chExt cx="3453036" cy="1199704"/>
            </a:xfrm>
          </p:grpSpPr>
          <p:sp>
            <p:nvSpPr>
              <p:cNvPr id="18" name="Shape 14">
                <a:extLst>
                  <a:ext uri="{FF2B5EF4-FFF2-40B4-BE49-F238E27FC236}">
                    <a16:creationId xmlns:a16="http://schemas.microsoft.com/office/drawing/2014/main" id="{3A2936CB-9C60-7C5C-3F59-4125803FF029}"/>
                  </a:ext>
                </a:extLst>
              </p:cNvPr>
              <p:cNvSpPr/>
              <p:nvPr/>
            </p:nvSpPr>
            <p:spPr>
              <a:xfrm>
                <a:off x="810394" y="3213198"/>
                <a:ext cx="3453036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9" name="Shape 15">
                <a:extLst>
                  <a:ext uri="{FF2B5EF4-FFF2-40B4-BE49-F238E27FC236}">
                    <a16:creationId xmlns:a16="http://schemas.microsoft.com/office/drawing/2014/main" id="{948F899F-D348-BFB4-1EA8-D1C490C8EDB5}"/>
                  </a:ext>
                </a:extLst>
              </p:cNvPr>
              <p:cNvSpPr/>
              <p:nvPr/>
            </p:nvSpPr>
            <p:spPr>
              <a:xfrm>
                <a:off x="810394" y="3198910"/>
                <a:ext cx="3453036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0" name="Shape 16">
                <a:extLst>
                  <a:ext uri="{FF2B5EF4-FFF2-40B4-BE49-F238E27FC236}">
                    <a16:creationId xmlns:a16="http://schemas.microsoft.com/office/drawing/2014/main" id="{E2673AA3-3BFB-AB3C-4C5A-7C44A0E5F75F}"/>
                  </a:ext>
                </a:extLst>
              </p:cNvPr>
              <p:cNvSpPr/>
              <p:nvPr/>
            </p:nvSpPr>
            <p:spPr>
              <a:xfrm>
                <a:off x="2375582" y="3051942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21" name="Image 2" descr="preencoded.png">
                <a:extLst>
                  <a:ext uri="{FF2B5EF4-FFF2-40B4-BE49-F238E27FC236}">
                    <a16:creationId xmlns:a16="http://schemas.microsoft.com/office/drawing/2014/main" id="{9DEF1D2B-6B89-2836-9262-13AC19798E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472320" y="3148681"/>
                <a:ext cx="129034" cy="129034"/>
              </a:xfrm>
              <a:prstGeom prst="rect">
                <a:avLst/>
              </a:prstGeom>
            </p:spPr>
          </p:pic>
          <p:sp>
            <p:nvSpPr>
              <p:cNvPr id="22" name="Text 17">
                <a:extLst>
                  <a:ext uri="{FF2B5EF4-FFF2-40B4-BE49-F238E27FC236}">
                    <a16:creationId xmlns:a16="http://schemas.microsoft.com/office/drawing/2014/main" id="{34C54C1A-EBED-40B7-4B22-4CE07A59EE09}"/>
                  </a:ext>
                </a:extLst>
              </p:cNvPr>
              <p:cNvSpPr/>
              <p:nvPr/>
            </p:nvSpPr>
            <p:spPr>
              <a:xfrm>
                <a:off x="932210" y="3481981"/>
                <a:ext cx="3209404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Camada de Serviço</a:t>
                </a:r>
                <a:endParaRPr lang="pt-PT" sz="950" noProof="0" dirty="0"/>
              </a:p>
            </p:txBody>
          </p:sp>
          <p:sp>
            <p:nvSpPr>
              <p:cNvPr id="23" name="Text 18">
                <a:extLst>
                  <a:ext uri="{FF2B5EF4-FFF2-40B4-BE49-F238E27FC236}">
                    <a16:creationId xmlns:a16="http://schemas.microsoft.com/office/drawing/2014/main" id="{00E39666-131A-6619-EF85-10D62807C72D}"/>
                  </a:ext>
                </a:extLst>
              </p:cNvPr>
              <p:cNvSpPr/>
              <p:nvPr/>
            </p:nvSpPr>
            <p:spPr>
              <a:xfrm>
                <a:off x="932210" y="3686471"/>
                <a:ext cx="3209404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É aqui que o Motor de Migração e o Motor de Regras Extensível encontram-se, os dois mecanismos centrais do EduCal, detalhados nos próximos slides.</a:t>
                </a:r>
                <a:endParaRPr lang="pt-PT" sz="800" noProof="0" dirty="0"/>
              </a:p>
            </p:txBody>
          </p:sp>
        </p:grpSp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17DAA023-20B7-25ED-80BB-F272CFEC644B}"/>
                </a:ext>
              </a:extLst>
            </p:cNvPr>
            <p:cNvGrpSpPr/>
            <p:nvPr/>
          </p:nvGrpSpPr>
          <p:grpSpPr>
            <a:xfrm>
              <a:off x="4694126" y="3215355"/>
              <a:ext cx="3453110" cy="1199704"/>
              <a:chOff x="4758680" y="3057300"/>
              <a:chExt cx="3453110" cy="1199704"/>
            </a:xfrm>
          </p:grpSpPr>
          <p:sp>
            <p:nvSpPr>
              <p:cNvPr id="24" name="Shape 19">
                <a:extLst>
                  <a:ext uri="{FF2B5EF4-FFF2-40B4-BE49-F238E27FC236}">
                    <a16:creationId xmlns:a16="http://schemas.microsoft.com/office/drawing/2014/main" id="{D6CD0ACF-C712-3127-9094-916D083B4ABF}"/>
                  </a:ext>
                </a:extLst>
              </p:cNvPr>
              <p:cNvSpPr/>
              <p:nvPr/>
            </p:nvSpPr>
            <p:spPr>
              <a:xfrm>
                <a:off x="4758680" y="3218556"/>
                <a:ext cx="3453110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5" name="Shape 20">
                <a:extLst>
                  <a:ext uri="{FF2B5EF4-FFF2-40B4-BE49-F238E27FC236}">
                    <a16:creationId xmlns:a16="http://schemas.microsoft.com/office/drawing/2014/main" id="{53DDD076-A5A1-8DD6-BDC6-633B168C62A0}"/>
                  </a:ext>
                </a:extLst>
              </p:cNvPr>
              <p:cNvSpPr/>
              <p:nvPr/>
            </p:nvSpPr>
            <p:spPr>
              <a:xfrm>
                <a:off x="4758680" y="3204268"/>
                <a:ext cx="3453110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6" name="Shape 21">
                <a:extLst>
                  <a:ext uri="{FF2B5EF4-FFF2-40B4-BE49-F238E27FC236}">
                    <a16:creationId xmlns:a16="http://schemas.microsoft.com/office/drawing/2014/main" id="{E03D0808-B0C1-217F-7AE8-79571547A9E7}"/>
                  </a:ext>
                </a:extLst>
              </p:cNvPr>
              <p:cNvSpPr/>
              <p:nvPr/>
            </p:nvSpPr>
            <p:spPr>
              <a:xfrm>
                <a:off x="6323943" y="3057300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27" name="Image 3" descr="preencoded.png">
                <a:extLst>
                  <a:ext uri="{FF2B5EF4-FFF2-40B4-BE49-F238E27FC236}">
                    <a16:creationId xmlns:a16="http://schemas.microsoft.com/office/drawing/2014/main" id="{29B41BEE-4D24-F22C-F4A2-CAC508FF59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20681" y="3154039"/>
                <a:ext cx="129034" cy="129034"/>
              </a:xfrm>
              <a:prstGeom prst="rect">
                <a:avLst/>
              </a:prstGeom>
            </p:spPr>
          </p:pic>
          <p:sp>
            <p:nvSpPr>
              <p:cNvPr id="28" name="Text 22">
                <a:extLst>
                  <a:ext uri="{FF2B5EF4-FFF2-40B4-BE49-F238E27FC236}">
                    <a16:creationId xmlns:a16="http://schemas.microsoft.com/office/drawing/2014/main" id="{000770EA-CB37-1E2A-8808-C5CFAE7F4C52}"/>
                  </a:ext>
                </a:extLst>
              </p:cNvPr>
              <p:cNvSpPr/>
              <p:nvPr/>
            </p:nvSpPr>
            <p:spPr>
              <a:xfrm>
                <a:off x="4880496" y="3487339"/>
                <a:ext cx="3209479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Validação com </a:t>
                </a:r>
                <a:r>
                  <a:rPr lang="pt-PT" sz="950" noProof="0" dirty="0" err="1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Zod</a:t>
                </a:r>
                <a:endParaRPr lang="pt-PT" sz="950" noProof="0" dirty="0"/>
              </a:p>
            </p:txBody>
          </p:sp>
          <p:sp>
            <p:nvSpPr>
              <p:cNvPr id="29" name="Text 23">
                <a:extLst>
                  <a:ext uri="{FF2B5EF4-FFF2-40B4-BE49-F238E27FC236}">
                    <a16:creationId xmlns:a16="http://schemas.microsoft.com/office/drawing/2014/main" id="{0908BB3E-BEB7-23BE-D545-F71F1B1A496D}"/>
                  </a:ext>
                </a:extLst>
              </p:cNvPr>
              <p:cNvSpPr/>
              <p:nvPr/>
            </p:nvSpPr>
            <p:spPr>
              <a:xfrm>
                <a:off x="4880496" y="3691829"/>
                <a:ext cx="3209479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Payloads validados de ponta a ponta com Zod, incluindo esquemas construídos dinamicamente a partir de valores da base de dados (ex: categorias).</a:t>
                </a:r>
                <a:endParaRPr lang="pt-PT" sz="800" noProof="0" dirty="0"/>
              </a:p>
            </p:txBody>
          </p:sp>
        </p:grp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A5874B83-D670-11E8-405F-9CA354F4336D}"/>
                </a:ext>
              </a:extLst>
            </p:cNvPr>
            <p:cNvGrpSpPr/>
            <p:nvPr/>
          </p:nvGrpSpPr>
          <p:grpSpPr>
            <a:xfrm>
              <a:off x="4694126" y="1821284"/>
              <a:ext cx="3453110" cy="1199703"/>
              <a:chOff x="4758680" y="1791965"/>
              <a:chExt cx="3453110" cy="1199703"/>
            </a:xfrm>
          </p:grpSpPr>
          <p:sp>
            <p:nvSpPr>
              <p:cNvPr id="12" name="Shape 9">
                <a:extLst>
                  <a:ext uri="{FF2B5EF4-FFF2-40B4-BE49-F238E27FC236}">
                    <a16:creationId xmlns:a16="http://schemas.microsoft.com/office/drawing/2014/main" id="{18AD33E5-91C3-AFAB-D673-F2DA3CDA8D35}"/>
                  </a:ext>
                </a:extLst>
              </p:cNvPr>
              <p:cNvSpPr/>
              <p:nvPr/>
            </p:nvSpPr>
            <p:spPr>
              <a:xfrm>
                <a:off x="4758680" y="1953220"/>
                <a:ext cx="3453110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3" name="Shape 10">
                <a:extLst>
                  <a:ext uri="{FF2B5EF4-FFF2-40B4-BE49-F238E27FC236}">
                    <a16:creationId xmlns:a16="http://schemas.microsoft.com/office/drawing/2014/main" id="{3063C676-8CD7-6431-6AF6-8D35B6F9E0E0}"/>
                  </a:ext>
                </a:extLst>
              </p:cNvPr>
              <p:cNvSpPr/>
              <p:nvPr/>
            </p:nvSpPr>
            <p:spPr>
              <a:xfrm>
                <a:off x="4758680" y="1938933"/>
                <a:ext cx="3453110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4" name="Shape 11">
                <a:extLst>
                  <a:ext uri="{FF2B5EF4-FFF2-40B4-BE49-F238E27FC236}">
                    <a16:creationId xmlns:a16="http://schemas.microsoft.com/office/drawing/2014/main" id="{A182C6BF-31A1-D786-D188-6E2853CA5FE3}"/>
                  </a:ext>
                </a:extLst>
              </p:cNvPr>
              <p:cNvSpPr/>
              <p:nvPr/>
            </p:nvSpPr>
            <p:spPr>
              <a:xfrm>
                <a:off x="6323943" y="1791965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6" name="Text 12">
                <a:extLst>
                  <a:ext uri="{FF2B5EF4-FFF2-40B4-BE49-F238E27FC236}">
                    <a16:creationId xmlns:a16="http://schemas.microsoft.com/office/drawing/2014/main" id="{2F0A9828-8B37-574F-3592-DB28A2F7F25B}"/>
                  </a:ext>
                </a:extLst>
              </p:cNvPr>
              <p:cNvSpPr/>
              <p:nvPr/>
            </p:nvSpPr>
            <p:spPr>
              <a:xfrm>
                <a:off x="4880496" y="2222004"/>
                <a:ext cx="3209479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ct val="104000"/>
                  </a:lnSpc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Erros e Resposta Padronizada</a:t>
                </a:r>
                <a:endParaRPr lang="pt-PT" sz="950" noProof="0" dirty="0"/>
              </a:p>
            </p:txBody>
          </p:sp>
          <p:sp>
            <p:nvSpPr>
              <p:cNvPr id="17" name="Text 13">
                <a:extLst>
                  <a:ext uri="{FF2B5EF4-FFF2-40B4-BE49-F238E27FC236}">
                    <a16:creationId xmlns:a16="http://schemas.microsoft.com/office/drawing/2014/main" id="{0C87C365-7A90-376E-E0A9-F5E24BD6662E}"/>
                  </a:ext>
                </a:extLst>
              </p:cNvPr>
              <p:cNvSpPr/>
              <p:nvPr/>
            </p:nvSpPr>
            <p:spPr>
              <a:xfrm>
                <a:off x="4880496" y="2426494"/>
                <a:ext cx="3209479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algn="just">
                  <a:lnSpc>
                    <a:spcPct val="115000"/>
                  </a:lnSpc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Toda a API responde no mesmo formato: {data} em sucesso, {error} em falha — erros de validação, autorização ou negócio passam todos pelo mesmo fail().</a:t>
                </a:r>
                <a:endParaRPr lang="pt-PT" sz="800" noProof="0" dirty="0"/>
              </a:p>
            </p:txBody>
          </p:sp>
          <p:pic>
            <p:nvPicPr>
              <p:cNvPr id="33" name="Image 4" descr="preencoded.png">
                <a:extLst>
                  <a:ext uri="{FF2B5EF4-FFF2-40B4-BE49-F238E27FC236}">
                    <a16:creationId xmlns:a16="http://schemas.microsoft.com/office/drawing/2014/main" id="{4309D7C6-D918-54E2-AFFF-6D68C7D3B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420681" y="1894858"/>
                <a:ext cx="129034" cy="129034"/>
              </a:xfrm>
              <a:prstGeom prst="rect">
                <a:avLst/>
              </a:prstGeom>
            </p:spPr>
          </p:pic>
        </p:grpSp>
      </p:grpSp>
      <p:sp>
        <p:nvSpPr>
          <p:cNvPr id="36" name="Shape 0">
            <a:extLst>
              <a:ext uri="{FF2B5EF4-FFF2-40B4-BE49-F238E27FC236}">
                <a16:creationId xmlns:a16="http://schemas.microsoft.com/office/drawing/2014/main" id="{2EA9616A-F5AC-7F6C-FCC1-47DD1F2D2B92}"/>
              </a:ext>
            </a:extLst>
          </p:cNvPr>
          <p:cNvSpPr/>
          <p:nvPr/>
        </p:nvSpPr>
        <p:spPr>
          <a:xfrm>
            <a:off x="474538" y="549846"/>
            <a:ext cx="881137" cy="256208"/>
          </a:xfrm>
          <a:prstGeom prst="roundRect">
            <a:avLst>
              <a:gd name="adj" fmla="val 6350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A633DC9C-C4FF-605E-54FF-855F9245A5CE}"/>
              </a:ext>
            </a:extLst>
          </p:cNvPr>
          <p:cNvSpPr/>
          <p:nvPr/>
        </p:nvSpPr>
        <p:spPr>
          <a:xfrm>
            <a:off x="560636" y="595238"/>
            <a:ext cx="1166143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pt-PT" sz="85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ARQUITETURA</a:t>
            </a:r>
            <a:endParaRPr lang="pt-PT" sz="850" noProof="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611D9BF7-A1D2-CF1C-D2F2-A0B52179C671}"/>
              </a:ext>
            </a:extLst>
          </p:cNvPr>
          <p:cNvSpPr/>
          <p:nvPr/>
        </p:nvSpPr>
        <p:spPr>
          <a:xfrm>
            <a:off x="474538" y="855166"/>
            <a:ext cx="471442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pt-PT" sz="2800" noProof="0" dirty="0" err="1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Backend</a:t>
            </a:r>
            <a:r>
              <a:rPr lang="pt-PT" sz="280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- Web-API e Lógica de Negócio</a:t>
            </a:r>
            <a:endParaRPr lang="pt-PT" sz="2800" noProof="0" dirty="0"/>
          </a:p>
        </p:txBody>
      </p:sp>
    </p:spTree>
    <p:extLst>
      <p:ext uri="{BB962C8B-B14F-4D97-AF65-F5344CB8AC3E}">
        <p14:creationId xmlns:p14="http://schemas.microsoft.com/office/powerpoint/2010/main" val="855687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CA6C-6562-A729-D49E-54225987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Agrupar 38">
            <a:extLst>
              <a:ext uri="{FF2B5EF4-FFF2-40B4-BE49-F238E27FC236}">
                <a16:creationId xmlns:a16="http://schemas.microsoft.com/office/drawing/2014/main" id="{0EBD7A7F-6D4A-65B5-7884-BB729D30A073}"/>
              </a:ext>
            </a:extLst>
          </p:cNvPr>
          <p:cNvGrpSpPr/>
          <p:nvPr/>
        </p:nvGrpSpPr>
        <p:grpSpPr>
          <a:xfrm>
            <a:off x="871340" y="1821284"/>
            <a:ext cx="7401471" cy="2595562"/>
            <a:chOff x="745765" y="1819497"/>
            <a:chExt cx="7401471" cy="2595562"/>
          </a:xfrm>
        </p:grpSpPr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88D026C3-9320-6ABC-F3E3-3EB55AE6C88E}"/>
                </a:ext>
              </a:extLst>
            </p:cNvPr>
            <p:cNvGrpSpPr/>
            <p:nvPr/>
          </p:nvGrpSpPr>
          <p:grpSpPr>
            <a:xfrm>
              <a:off x="745765" y="1819497"/>
              <a:ext cx="3453036" cy="1199703"/>
              <a:chOff x="810394" y="1780355"/>
              <a:chExt cx="3453036" cy="1199703"/>
            </a:xfrm>
          </p:grpSpPr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40E527CA-2120-761E-60F2-56231D258C55}"/>
                  </a:ext>
                </a:extLst>
              </p:cNvPr>
              <p:cNvSpPr/>
              <p:nvPr/>
            </p:nvSpPr>
            <p:spPr>
              <a:xfrm>
                <a:off x="810394" y="1941610"/>
                <a:ext cx="3453036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7" name="Shape 5">
                <a:extLst>
                  <a:ext uri="{FF2B5EF4-FFF2-40B4-BE49-F238E27FC236}">
                    <a16:creationId xmlns:a16="http://schemas.microsoft.com/office/drawing/2014/main" id="{B50CED5F-D29F-0D25-DA47-F6F8067E8415}"/>
                  </a:ext>
                </a:extLst>
              </p:cNvPr>
              <p:cNvSpPr/>
              <p:nvPr/>
            </p:nvSpPr>
            <p:spPr>
              <a:xfrm>
                <a:off x="810394" y="1927323"/>
                <a:ext cx="3453036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8" name="Shape 6">
                <a:extLst>
                  <a:ext uri="{FF2B5EF4-FFF2-40B4-BE49-F238E27FC236}">
                    <a16:creationId xmlns:a16="http://schemas.microsoft.com/office/drawing/2014/main" id="{E3D298B4-BAD6-7C43-52DE-01E4A2DEA093}"/>
                  </a:ext>
                </a:extLst>
              </p:cNvPr>
              <p:cNvSpPr/>
              <p:nvPr/>
            </p:nvSpPr>
            <p:spPr>
              <a:xfrm>
                <a:off x="2375582" y="1780355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9" name="Image 0" descr="preencoded.png">
                <a:extLst>
                  <a:ext uri="{FF2B5EF4-FFF2-40B4-BE49-F238E27FC236}">
                    <a16:creationId xmlns:a16="http://schemas.microsoft.com/office/drawing/2014/main" id="{7F6FD5D4-EEA4-A42C-283B-547FD9E7DA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472320" y="1877093"/>
                <a:ext cx="129034" cy="129034"/>
              </a:xfrm>
              <a:prstGeom prst="rect">
                <a:avLst/>
              </a:prstGeom>
            </p:spPr>
          </p:pic>
          <p:sp>
            <p:nvSpPr>
              <p:cNvPr id="10" name="Text 7">
                <a:extLst>
                  <a:ext uri="{FF2B5EF4-FFF2-40B4-BE49-F238E27FC236}">
                    <a16:creationId xmlns:a16="http://schemas.microsoft.com/office/drawing/2014/main" id="{E5764B5D-6758-2FF4-AEE9-212D01922FA2}"/>
                  </a:ext>
                </a:extLst>
              </p:cNvPr>
              <p:cNvSpPr/>
              <p:nvPr/>
            </p:nvSpPr>
            <p:spPr>
              <a:xfrm>
                <a:off x="932209" y="2210394"/>
                <a:ext cx="3209403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withApiAuth — Autenticação</a:t>
                </a:r>
                <a:endParaRPr lang="pt-PT" sz="950" noProof="0" dirty="0"/>
              </a:p>
            </p:txBody>
          </p:sp>
          <p:sp>
            <p:nvSpPr>
              <p:cNvPr id="11" name="Text 8">
                <a:extLst>
                  <a:ext uri="{FF2B5EF4-FFF2-40B4-BE49-F238E27FC236}">
                    <a16:creationId xmlns:a16="http://schemas.microsoft.com/office/drawing/2014/main" id="{D2514EA4-5841-B439-CCE8-742825D84FA1}"/>
                  </a:ext>
                </a:extLst>
              </p:cNvPr>
              <p:cNvSpPr/>
              <p:nvPr/>
            </p:nvSpPr>
            <p:spPr>
              <a:xfrm>
                <a:off x="932210" y="2414884"/>
                <a:ext cx="3209404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Middleware HTTP que obtém o cookie de sessão de um utilizador e rejeita pedidos não autenticados antes de chegarem a qualquer controller.</a:t>
                </a:r>
                <a:endParaRPr lang="pt-PT" sz="800" noProof="0" dirty="0"/>
              </a:p>
            </p:txBody>
          </p:sp>
        </p:grpSp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7626B983-F08D-B8D7-6197-A73F02103784}"/>
                </a:ext>
              </a:extLst>
            </p:cNvPr>
            <p:cNvGrpSpPr/>
            <p:nvPr/>
          </p:nvGrpSpPr>
          <p:grpSpPr>
            <a:xfrm>
              <a:off x="745840" y="3209997"/>
              <a:ext cx="3453036" cy="1199704"/>
              <a:chOff x="810394" y="3051942"/>
              <a:chExt cx="3453036" cy="1199704"/>
            </a:xfrm>
          </p:grpSpPr>
          <p:sp>
            <p:nvSpPr>
              <p:cNvPr id="18" name="Shape 14">
                <a:extLst>
                  <a:ext uri="{FF2B5EF4-FFF2-40B4-BE49-F238E27FC236}">
                    <a16:creationId xmlns:a16="http://schemas.microsoft.com/office/drawing/2014/main" id="{3A2936CB-9C60-7C5C-3F59-4125803FF029}"/>
                  </a:ext>
                </a:extLst>
              </p:cNvPr>
              <p:cNvSpPr/>
              <p:nvPr/>
            </p:nvSpPr>
            <p:spPr>
              <a:xfrm>
                <a:off x="810394" y="3213198"/>
                <a:ext cx="3453036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9" name="Shape 15">
                <a:extLst>
                  <a:ext uri="{FF2B5EF4-FFF2-40B4-BE49-F238E27FC236}">
                    <a16:creationId xmlns:a16="http://schemas.microsoft.com/office/drawing/2014/main" id="{948F899F-D348-BFB4-1EA8-D1C490C8EDB5}"/>
                  </a:ext>
                </a:extLst>
              </p:cNvPr>
              <p:cNvSpPr/>
              <p:nvPr/>
            </p:nvSpPr>
            <p:spPr>
              <a:xfrm>
                <a:off x="810394" y="3198910"/>
                <a:ext cx="3453036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0" name="Shape 16">
                <a:extLst>
                  <a:ext uri="{FF2B5EF4-FFF2-40B4-BE49-F238E27FC236}">
                    <a16:creationId xmlns:a16="http://schemas.microsoft.com/office/drawing/2014/main" id="{E2673AA3-3BFB-AB3C-4C5A-7C44A0E5F75F}"/>
                  </a:ext>
                </a:extLst>
              </p:cNvPr>
              <p:cNvSpPr/>
              <p:nvPr/>
            </p:nvSpPr>
            <p:spPr>
              <a:xfrm>
                <a:off x="2375582" y="3051942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21" name="Image 2" descr="preencoded.png">
                <a:extLst>
                  <a:ext uri="{FF2B5EF4-FFF2-40B4-BE49-F238E27FC236}">
                    <a16:creationId xmlns:a16="http://schemas.microsoft.com/office/drawing/2014/main" id="{9DEF1D2B-6B89-2836-9262-13AC19798E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72320" y="3148681"/>
                <a:ext cx="129034" cy="129034"/>
              </a:xfrm>
              <a:prstGeom prst="rect">
                <a:avLst/>
              </a:prstGeom>
            </p:spPr>
          </p:pic>
          <p:sp>
            <p:nvSpPr>
              <p:cNvPr id="22" name="Text 17">
                <a:extLst>
                  <a:ext uri="{FF2B5EF4-FFF2-40B4-BE49-F238E27FC236}">
                    <a16:creationId xmlns:a16="http://schemas.microsoft.com/office/drawing/2014/main" id="{34C54C1A-EBED-40B7-4B22-4CE07A59EE09}"/>
                  </a:ext>
                </a:extLst>
              </p:cNvPr>
              <p:cNvSpPr/>
              <p:nvPr/>
            </p:nvSpPr>
            <p:spPr>
              <a:xfrm>
                <a:off x="932210" y="3481981"/>
                <a:ext cx="3209404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Hierarquia de Roles</a:t>
                </a:r>
                <a:endParaRPr lang="pt-PT" sz="950" noProof="0" dirty="0"/>
              </a:p>
            </p:txBody>
          </p:sp>
          <p:sp>
            <p:nvSpPr>
              <p:cNvPr id="23" name="Text 18">
                <a:extLst>
                  <a:ext uri="{FF2B5EF4-FFF2-40B4-BE49-F238E27FC236}">
                    <a16:creationId xmlns:a16="http://schemas.microsoft.com/office/drawing/2014/main" id="{00E39666-131A-6619-EF85-10D62807C72D}"/>
                  </a:ext>
                </a:extLst>
              </p:cNvPr>
              <p:cNvSpPr/>
              <p:nvPr/>
            </p:nvSpPr>
            <p:spPr>
              <a:xfrm>
                <a:off x="932210" y="3686471"/>
                <a:ext cx="3209404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Viewer &lt; Editor &lt; Admin. Editar o calendário exige Editor; gerir utilizadores exige Admin.</a:t>
                </a:r>
                <a:endParaRPr lang="pt-PT" sz="800" noProof="0" dirty="0"/>
              </a:p>
            </p:txBody>
          </p:sp>
        </p:grpSp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17DAA023-20B7-25ED-80BB-F272CFEC644B}"/>
                </a:ext>
              </a:extLst>
            </p:cNvPr>
            <p:cNvGrpSpPr/>
            <p:nvPr/>
          </p:nvGrpSpPr>
          <p:grpSpPr>
            <a:xfrm>
              <a:off x="4694126" y="3215355"/>
              <a:ext cx="3453110" cy="1199704"/>
              <a:chOff x="4758680" y="3057300"/>
              <a:chExt cx="3453110" cy="1199704"/>
            </a:xfrm>
          </p:grpSpPr>
          <p:sp>
            <p:nvSpPr>
              <p:cNvPr id="24" name="Shape 19">
                <a:extLst>
                  <a:ext uri="{FF2B5EF4-FFF2-40B4-BE49-F238E27FC236}">
                    <a16:creationId xmlns:a16="http://schemas.microsoft.com/office/drawing/2014/main" id="{D6CD0ACF-C712-3127-9094-916D083B4ABF}"/>
                  </a:ext>
                </a:extLst>
              </p:cNvPr>
              <p:cNvSpPr/>
              <p:nvPr/>
            </p:nvSpPr>
            <p:spPr>
              <a:xfrm>
                <a:off x="4758680" y="3218556"/>
                <a:ext cx="3453110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5" name="Shape 20">
                <a:extLst>
                  <a:ext uri="{FF2B5EF4-FFF2-40B4-BE49-F238E27FC236}">
                    <a16:creationId xmlns:a16="http://schemas.microsoft.com/office/drawing/2014/main" id="{53DDD076-A5A1-8DD6-BDC6-633B168C62A0}"/>
                  </a:ext>
                </a:extLst>
              </p:cNvPr>
              <p:cNvSpPr/>
              <p:nvPr/>
            </p:nvSpPr>
            <p:spPr>
              <a:xfrm>
                <a:off x="4758680" y="3204268"/>
                <a:ext cx="3453110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6" name="Shape 21">
                <a:extLst>
                  <a:ext uri="{FF2B5EF4-FFF2-40B4-BE49-F238E27FC236}">
                    <a16:creationId xmlns:a16="http://schemas.microsoft.com/office/drawing/2014/main" id="{E03D0808-B0C1-217F-7AE8-79571547A9E7}"/>
                  </a:ext>
                </a:extLst>
              </p:cNvPr>
              <p:cNvSpPr/>
              <p:nvPr/>
            </p:nvSpPr>
            <p:spPr>
              <a:xfrm>
                <a:off x="6323943" y="3057300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27" name="Image 3" descr="preencoded.png">
                <a:extLst>
                  <a:ext uri="{FF2B5EF4-FFF2-40B4-BE49-F238E27FC236}">
                    <a16:creationId xmlns:a16="http://schemas.microsoft.com/office/drawing/2014/main" id="{29B41BEE-4D24-F22C-F4A2-CAC508FF59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420681" y="3154039"/>
                <a:ext cx="129034" cy="129034"/>
              </a:xfrm>
              <a:prstGeom prst="rect">
                <a:avLst/>
              </a:prstGeom>
            </p:spPr>
          </p:pic>
          <p:sp>
            <p:nvSpPr>
              <p:cNvPr id="28" name="Text 22">
                <a:extLst>
                  <a:ext uri="{FF2B5EF4-FFF2-40B4-BE49-F238E27FC236}">
                    <a16:creationId xmlns:a16="http://schemas.microsoft.com/office/drawing/2014/main" id="{000770EA-CB37-1E2A-8808-C5CFAE7F4C52}"/>
                  </a:ext>
                </a:extLst>
              </p:cNvPr>
              <p:cNvSpPr/>
              <p:nvPr/>
            </p:nvSpPr>
            <p:spPr>
              <a:xfrm>
                <a:off x="4880496" y="3487339"/>
                <a:ext cx="3209479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Invariantes de Auto-Gestão</a:t>
                </a:r>
                <a:endParaRPr lang="pt-PT" sz="950" noProof="0" dirty="0"/>
              </a:p>
            </p:txBody>
          </p:sp>
          <p:sp>
            <p:nvSpPr>
              <p:cNvPr id="29" name="Text 23">
                <a:extLst>
                  <a:ext uri="{FF2B5EF4-FFF2-40B4-BE49-F238E27FC236}">
                    <a16:creationId xmlns:a16="http://schemas.microsoft.com/office/drawing/2014/main" id="{0908BB3E-BEB7-23BE-D545-F71F1B1A496D}"/>
                  </a:ext>
                </a:extLst>
              </p:cNvPr>
              <p:cNvSpPr/>
              <p:nvPr/>
            </p:nvSpPr>
            <p:spPr>
              <a:xfrm>
                <a:off x="4880496" y="3691829"/>
                <a:ext cx="3209479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Um admin não se pode auto-despromover nem auto-eliminar; o último admin restante nunca pode ser removido.</a:t>
                </a:r>
                <a:endParaRPr lang="pt-PT" sz="800" noProof="0" dirty="0"/>
              </a:p>
            </p:txBody>
          </p:sp>
        </p:grp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A5874B83-D670-11E8-405F-9CA354F4336D}"/>
                </a:ext>
              </a:extLst>
            </p:cNvPr>
            <p:cNvGrpSpPr/>
            <p:nvPr/>
          </p:nvGrpSpPr>
          <p:grpSpPr>
            <a:xfrm>
              <a:off x="4694126" y="1821284"/>
              <a:ext cx="3453110" cy="1199703"/>
              <a:chOff x="4758680" y="1791965"/>
              <a:chExt cx="3453110" cy="1199703"/>
            </a:xfrm>
          </p:grpSpPr>
          <p:sp>
            <p:nvSpPr>
              <p:cNvPr id="12" name="Shape 9">
                <a:extLst>
                  <a:ext uri="{FF2B5EF4-FFF2-40B4-BE49-F238E27FC236}">
                    <a16:creationId xmlns:a16="http://schemas.microsoft.com/office/drawing/2014/main" id="{18AD33E5-91C3-AFAB-D673-F2DA3CDA8D35}"/>
                  </a:ext>
                </a:extLst>
              </p:cNvPr>
              <p:cNvSpPr/>
              <p:nvPr/>
            </p:nvSpPr>
            <p:spPr>
              <a:xfrm>
                <a:off x="4758680" y="1953220"/>
                <a:ext cx="3453110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3" name="Shape 10">
                <a:extLst>
                  <a:ext uri="{FF2B5EF4-FFF2-40B4-BE49-F238E27FC236}">
                    <a16:creationId xmlns:a16="http://schemas.microsoft.com/office/drawing/2014/main" id="{3063C676-8CD7-6431-6AF6-8D35B6F9E0E0}"/>
                  </a:ext>
                </a:extLst>
              </p:cNvPr>
              <p:cNvSpPr/>
              <p:nvPr/>
            </p:nvSpPr>
            <p:spPr>
              <a:xfrm>
                <a:off x="4758680" y="1938933"/>
                <a:ext cx="3453110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4" name="Shape 11">
                <a:extLst>
                  <a:ext uri="{FF2B5EF4-FFF2-40B4-BE49-F238E27FC236}">
                    <a16:creationId xmlns:a16="http://schemas.microsoft.com/office/drawing/2014/main" id="{A182C6BF-31A1-D786-D188-6E2853CA5FE3}"/>
                  </a:ext>
                </a:extLst>
              </p:cNvPr>
              <p:cNvSpPr/>
              <p:nvPr/>
            </p:nvSpPr>
            <p:spPr>
              <a:xfrm>
                <a:off x="6323943" y="1791965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6" name="Text 12">
                <a:extLst>
                  <a:ext uri="{FF2B5EF4-FFF2-40B4-BE49-F238E27FC236}">
                    <a16:creationId xmlns:a16="http://schemas.microsoft.com/office/drawing/2014/main" id="{2F0A9828-8B37-574F-3592-DB28A2F7F25B}"/>
                  </a:ext>
                </a:extLst>
              </p:cNvPr>
              <p:cNvSpPr/>
              <p:nvPr/>
            </p:nvSpPr>
            <p:spPr>
              <a:xfrm>
                <a:off x="4880496" y="2222004"/>
                <a:ext cx="3209479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ct val="104000"/>
                  </a:lnSpc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withRolePolicy — Autorização</a:t>
                </a:r>
                <a:endParaRPr lang="pt-PT" sz="950" noProof="0" dirty="0"/>
              </a:p>
            </p:txBody>
          </p:sp>
          <p:sp>
            <p:nvSpPr>
              <p:cNvPr id="17" name="Text 13">
                <a:extLst>
                  <a:ext uri="{FF2B5EF4-FFF2-40B4-BE49-F238E27FC236}">
                    <a16:creationId xmlns:a16="http://schemas.microsoft.com/office/drawing/2014/main" id="{0C87C365-7A90-376E-E0A9-F5E24BD6662E}"/>
                  </a:ext>
                </a:extLst>
              </p:cNvPr>
              <p:cNvSpPr/>
              <p:nvPr/>
            </p:nvSpPr>
            <p:spPr>
              <a:xfrm>
                <a:off x="4880496" y="2426494"/>
                <a:ext cx="3209479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algn="just">
                  <a:lnSpc>
                    <a:spcPct val="115000"/>
                  </a:lnSpc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Wrapper genérico ao nível do serviço: mapa de método para role mínima, "deny-by-default" ao nível dos tipos — falta uma entrada e o código nem compila.</a:t>
                </a:r>
                <a:endParaRPr lang="pt-PT" sz="800" noProof="0" dirty="0"/>
              </a:p>
            </p:txBody>
          </p:sp>
          <p:pic>
            <p:nvPicPr>
              <p:cNvPr id="33" name="Image 4" descr="preencoded.png">
                <a:extLst>
                  <a:ext uri="{FF2B5EF4-FFF2-40B4-BE49-F238E27FC236}">
                    <a16:creationId xmlns:a16="http://schemas.microsoft.com/office/drawing/2014/main" id="{4309D7C6-D918-54E2-AFFF-6D68C7D3B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20681" y="1894858"/>
                <a:ext cx="129034" cy="129034"/>
              </a:xfrm>
              <a:prstGeom prst="rect">
                <a:avLst/>
              </a:prstGeom>
            </p:spPr>
          </p:pic>
        </p:grpSp>
      </p:grpSp>
      <p:sp>
        <p:nvSpPr>
          <p:cNvPr id="36" name="Shape 0">
            <a:extLst>
              <a:ext uri="{FF2B5EF4-FFF2-40B4-BE49-F238E27FC236}">
                <a16:creationId xmlns:a16="http://schemas.microsoft.com/office/drawing/2014/main" id="{2EA9616A-F5AC-7F6C-FCC1-47DD1F2D2B92}"/>
              </a:ext>
            </a:extLst>
          </p:cNvPr>
          <p:cNvSpPr/>
          <p:nvPr/>
        </p:nvSpPr>
        <p:spPr>
          <a:xfrm>
            <a:off x="474538" y="549846"/>
            <a:ext cx="1363640" cy="256208"/>
          </a:xfrm>
          <a:prstGeom prst="roundRect">
            <a:avLst>
              <a:gd name="adj" fmla="val 6350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A633DC9C-C4FF-605E-54FF-855F9245A5CE}"/>
              </a:ext>
            </a:extLst>
          </p:cNvPr>
          <p:cNvSpPr/>
          <p:nvPr/>
        </p:nvSpPr>
        <p:spPr>
          <a:xfrm>
            <a:off x="560636" y="595238"/>
            <a:ext cx="1166143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pt-PT" sz="85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IMPLEMENTAÇÃO · RF06</a:t>
            </a:r>
            <a:endParaRPr lang="pt-PT" sz="850" noProof="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611D9BF7-A1D2-CF1C-D2F2-A0B52179C671}"/>
              </a:ext>
            </a:extLst>
          </p:cNvPr>
          <p:cNvSpPr/>
          <p:nvPr/>
        </p:nvSpPr>
        <p:spPr>
          <a:xfrm>
            <a:off x="474538" y="855166"/>
            <a:ext cx="471442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pt-PT" sz="2800" noProof="0" dirty="0" err="1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Middleware de Autenticação e Roles</a:t>
            </a:r>
            <a:endParaRPr lang="pt-PT" sz="2800" noProof="0" dirty="0"/>
          </a:p>
        </p:txBody>
      </p:sp>
    </p:spTree>
    <p:extLst>
      <p:ext uri="{BB962C8B-B14F-4D97-AF65-F5344CB8AC3E}">
        <p14:creationId xmlns:p14="http://schemas.microsoft.com/office/powerpoint/2010/main" val="85568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297456"/>
            <a:ext cx="1247552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Text 1"/>
          <p:cNvSpPr/>
          <p:nvPr/>
        </p:nvSpPr>
        <p:spPr>
          <a:xfrm>
            <a:off x="618083" y="344256"/>
            <a:ext cx="105854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90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MODELO DE DADOS</a:t>
            </a:r>
            <a:endParaRPr lang="pt-PT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523577" y="646656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pt-PT" sz="27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Entidades Principais</a:t>
            </a:r>
            <a:endParaRPr lang="pt-PT" sz="2750" noProof="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1B7A8BC-318A-C217-5918-1EDBDC082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08" y="1086666"/>
            <a:ext cx="7091984" cy="39909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alendario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74" y="1462749"/>
            <a:ext cx="4323097" cy="2931591"/>
          </a:xfrm>
          <a:prstGeom prst="rect">
            <a:avLst/>
          </a:prstGeom>
          <a:ln w="9525">
            <a:solidFill>
              <a:srgbClr val="D9CECE"/>
            </a:solidFill>
          </a:ln>
        </p:spPr>
      </p:pic>
      <p:sp>
        <p:nvSpPr>
          <p:cNvPr id="2" name="Shape 0"/>
          <p:cNvSpPr/>
          <p:nvPr/>
        </p:nvSpPr>
        <p:spPr>
          <a:xfrm>
            <a:off x="548953" y="354732"/>
            <a:ext cx="1261393" cy="228749"/>
          </a:xfrm>
          <a:prstGeom prst="roundRect">
            <a:avLst>
              <a:gd name="adj" fmla="val 6500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Text 1"/>
          <p:cNvSpPr/>
          <p:nvPr/>
        </p:nvSpPr>
        <p:spPr>
          <a:xfrm>
            <a:off x="627980" y="396627"/>
            <a:ext cx="1103337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pt-PT" sz="75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IMPLEMENTAÇÃO · RF01</a:t>
            </a:r>
            <a:endParaRPr lang="pt-PT" sz="750" noProof="0" dirty="0"/>
          </a:p>
        </p:txBody>
      </p:sp>
      <p:sp>
        <p:nvSpPr>
          <p:cNvPr id="4" name="Text 2"/>
          <p:cNvSpPr/>
          <p:nvPr/>
        </p:nvSpPr>
        <p:spPr>
          <a:xfrm>
            <a:off x="548953" y="624483"/>
            <a:ext cx="2915245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PT" sz="22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Calendário Interativo</a:t>
            </a:r>
            <a:endParaRPr lang="pt-PT" sz="2250" noProof="0" dirty="0"/>
          </a:p>
        </p:txBody>
      </p:sp>
      <p:sp>
        <p:nvSpPr>
          <p:cNvPr id="6" name="Text 3"/>
          <p:cNvSpPr/>
          <p:nvPr/>
        </p:nvSpPr>
        <p:spPr>
          <a:xfrm>
            <a:off x="5980137" y="2060228"/>
            <a:ext cx="194019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pt-PT" sz="110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Funcionalidades Operacionais</a:t>
            </a:r>
            <a:endParaRPr lang="pt-PT" sz="1100" noProof="0" dirty="0"/>
          </a:p>
        </p:txBody>
      </p:sp>
      <p:sp>
        <p:nvSpPr>
          <p:cNvPr id="7" name="Text 4"/>
          <p:cNvSpPr/>
          <p:nvPr/>
        </p:nvSpPr>
        <p:spPr>
          <a:xfrm>
            <a:off x="5980137" y="2344936"/>
            <a:ext cx="2619598" cy="159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pt-PT" sz="9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Vistas </a:t>
            </a:r>
            <a:r>
              <a:rPr lang="pt-PT" sz="950" b="1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Agenda, Diária, Semanal, Mensal e Anual</a:t>
            </a:r>
            <a:endParaRPr lang="pt-PT" sz="950" noProof="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pt-PT" sz="9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Criação de eventos com </a:t>
            </a:r>
            <a:r>
              <a:rPr lang="pt-PT" sz="950" noProof="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metadados</a:t>
            </a:r>
            <a:r>
              <a:rPr lang="pt-PT" sz="9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completos (nome, objetivo, categoria, responsável)</a:t>
            </a:r>
            <a:endParaRPr lang="pt-PT" sz="950" noProof="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pt-PT" sz="9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Múltiplas ocorrências por evento</a:t>
            </a:r>
            <a:endParaRPr lang="pt-PT" sz="950" noProof="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pt-PT" sz="950" b="1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Drag-</a:t>
            </a:r>
            <a:r>
              <a:rPr lang="pt-PT" sz="950" b="1" noProof="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and</a:t>
            </a:r>
            <a:r>
              <a:rPr lang="pt-PT" sz="950" b="1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-</a:t>
            </a:r>
            <a:r>
              <a:rPr lang="pt-PT" sz="950" b="1" noProof="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drop</a:t>
            </a:r>
            <a:r>
              <a:rPr lang="pt-PT" sz="9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para reagendamento direto</a:t>
            </a:r>
            <a:endParaRPr lang="pt-PT" sz="950" noProof="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pt-PT" sz="9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Validação de dados com </a:t>
            </a:r>
            <a:r>
              <a:rPr lang="pt-PT" sz="950" b="1" noProof="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Zod</a:t>
            </a:r>
            <a:r>
              <a:rPr lang="pt-PT" sz="95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em todos os inputs da API</a:t>
            </a:r>
            <a:endParaRPr lang="pt-PT" sz="95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78982" y="554608"/>
            <a:ext cx="1308497" cy="239539"/>
          </a:xfrm>
          <a:prstGeom prst="roundRect">
            <a:avLst>
              <a:gd name="adj" fmla="val 6441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 1"/>
          <p:cNvSpPr/>
          <p:nvPr/>
        </p:nvSpPr>
        <p:spPr>
          <a:xfrm>
            <a:off x="3960837" y="597917"/>
            <a:ext cx="1144786" cy="1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pt-PT" sz="80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IMPLEMENTAÇÃO · RF02</a:t>
            </a:r>
            <a:endParaRPr lang="pt-P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3878982" y="838274"/>
            <a:ext cx="4728939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pt-PT" sz="23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Motor de Migração de Calendário</a:t>
            </a:r>
            <a:endParaRPr lang="pt-PT" sz="2350" noProof="0" dirty="0"/>
          </a:p>
        </p:txBody>
      </p:sp>
      <p:sp>
        <p:nvSpPr>
          <p:cNvPr id="6" name="Shape 3"/>
          <p:cNvSpPr/>
          <p:nvPr/>
        </p:nvSpPr>
        <p:spPr>
          <a:xfrm>
            <a:off x="3878982" y="1950036"/>
            <a:ext cx="2352303" cy="1248148"/>
          </a:xfrm>
          <a:prstGeom prst="roundRect">
            <a:avLst>
              <a:gd name="adj" fmla="val 6223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4"/>
          <p:cNvSpPr/>
          <p:nvPr/>
        </p:nvSpPr>
        <p:spPr>
          <a:xfrm>
            <a:off x="3878982" y="1935750"/>
            <a:ext cx="2352303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5"/>
          <p:cNvSpPr/>
          <p:nvPr/>
        </p:nvSpPr>
        <p:spPr>
          <a:xfrm>
            <a:off x="4862252" y="1757230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7966" y="1872944"/>
            <a:ext cx="154260" cy="1542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1782" y="2271432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Migração Idempotente</a:t>
            </a:r>
            <a:endParaRPr lang="pt-PT" sz="1150" noProof="0" dirty="0"/>
          </a:p>
        </p:txBody>
      </p:sp>
      <p:sp>
        <p:nvSpPr>
          <p:cNvPr id="11" name="Text 7"/>
          <p:cNvSpPr/>
          <p:nvPr/>
        </p:nvSpPr>
        <p:spPr>
          <a:xfrm>
            <a:off x="4021782" y="2526746"/>
            <a:ext cx="20667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Clona cada evento apenas se ainda não existir no ano seguinte, evitando duplicados.</a:t>
            </a:r>
            <a:endParaRPr lang="pt-PT" sz="1000" noProof="0" dirty="0"/>
          </a:p>
        </p:txBody>
      </p:sp>
      <p:sp>
        <p:nvSpPr>
          <p:cNvPr id="12" name="Shape 8"/>
          <p:cNvSpPr/>
          <p:nvPr/>
        </p:nvSpPr>
        <p:spPr>
          <a:xfrm>
            <a:off x="6341715" y="1950036"/>
            <a:ext cx="2352303" cy="1248147"/>
          </a:xfrm>
          <a:prstGeom prst="roundRect">
            <a:avLst>
              <a:gd name="adj" fmla="val 6223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9"/>
          <p:cNvSpPr/>
          <p:nvPr/>
        </p:nvSpPr>
        <p:spPr>
          <a:xfrm>
            <a:off x="6341715" y="1935750"/>
            <a:ext cx="2352303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0"/>
          <p:cNvSpPr/>
          <p:nvPr/>
        </p:nvSpPr>
        <p:spPr>
          <a:xfrm>
            <a:off x="7324985" y="1757230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0699" y="1872944"/>
            <a:ext cx="154260" cy="1542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84516" y="2271432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Ajuste de Datas</a:t>
            </a:r>
            <a:endParaRPr lang="pt-PT" sz="1150" noProof="0" dirty="0"/>
          </a:p>
        </p:txBody>
      </p:sp>
      <p:sp>
        <p:nvSpPr>
          <p:cNvPr id="17" name="Text 12"/>
          <p:cNvSpPr/>
          <p:nvPr/>
        </p:nvSpPr>
        <p:spPr>
          <a:xfrm>
            <a:off x="6484516" y="2526746"/>
            <a:ext cx="20667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ocorrência avança um ano civil; 29 de fevereiro é ajustado para 28 em anos não bissextos.</a:t>
            </a:r>
            <a:endParaRPr lang="pt-PT" sz="1000" noProof="0" dirty="0"/>
          </a:p>
        </p:txBody>
      </p:sp>
      <p:sp>
        <p:nvSpPr>
          <p:cNvPr id="18" name="Shape 13"/>
          <p:cNvSpPr/>
          <p:nvPr/>
        </p:nvSpPr>
        <p:spPr>
          <a:xfrm>
            <a:off x="3878982" y="3505291"/>
            <a:ext cx="4815036" cy="910754"/>
          </a:xfrm>
          <a:prstGeom prst="roundRect">
            <a:avLst>
              <a:gd name="adj" fmla="val 7530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4"/>
          <p:cNvSpPr/>
          <p:nvPr/>
        </p:nvSpPr>
        <p:spPr>
          <a:xfrm>
            <a:off x="3878982" y="3491004"/>
            <a:ext cx="4815036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5"/>
          <p:cNvSpPr/>
          <p:nvPr/>
        </p:nvSpPr>
        <p:spPr>
          <a:xfrm>
            <a:off x="6093656" y="3312485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9370" y="3428198"/>
            <a:ext cx="154260" cy="1542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021782" y="3826686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Validação Pós-Migração</a:t>
            </a:r>
            <a:endParaRPr lang="pt-PT" sz="1150" noProof="0" dirty="0"/>
          </a:p>
        </p:txBody>
      </p:sp>
      <p:sp>
        <p:nvSpPr>
          <p:cNvPr id="23" name="Text 17"/>
          <p:cNvSpPr/>
          <p:nvPr/>
        </p:nvSpPr>
        <p:spPr>
          <a:xfrm>
            <a:off x="4021782" y="4082000"/>
            <a:ext cx="452943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Após migrar, o motor de regras reporta violações para revisão manual.</a:t>
            </a:r>
            <a:endParaRPr lang="pt-PT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78982" y="554608"/>
            <a:ext cx="1308497" cy="239539"/>
          </a:xfrm>
          <a:prstGeom prst="roundRect">
            <a:avLst>
              <a:gd name="adj" fmla="val 6441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 1"/>
          <p:cNvSpPr/>
          <p:nvPr/>
        </p:nvSpPr>
        <p:spPr>
          <a:xfrm>
            <a:off x="3960837" y="597917"/>
            <a:ext cx="1144786" cy="1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pt-PT" sz="80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IMPLEMENTAÇÃO · RF03</a:t>
            </a:r>
            <a:endParaRPr lang="pt-P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3878982" y="838274"/>
            <a:ext cx="4728939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pt-PT" sz="23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Motor de Regras de Negócio</a:t>
            </a:r>
            <a:endParaRPr lang="pt-PT" sz="2350" noProof="0" dirty="0"/>
          </a:p>
        </p:txBody>
      </p:sp>
      <p:sp>
        <p:nvSpPr>
          <p:cNvPr id="6" name="Shape 3"/>
          <p:cNvSpPr/>
          <p:nvPr/>
        </p:nvSpPr>
        <p:spPr>
          <a:xfrm>
            <a:off x="3878982" y="1950037"/>
            <a:ext cx="2352303" cy="1240930"/>
          </a:xfrm>
          <a:prstGeom prst="roundRect">
            <a:avLst>
              <a:gd name="adj" fmla="val 6223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4"/>
          <p:cNvSpPr/>
          <p:nvPr/>
        </p:nvSpPr>
        <p:spPr>
          <a:xfrm>
            <a:off x="3878982" y="1935750"/>
            <a:ext cx="2352303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5"/>
          <p:cNvSpPr/>
          <p:nvPr/>
        </p:nvSpPr>
        <p:spPr>
          <a:xfrm>
            <a:off x="4862252" y="1757230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77966" y="1872944"/>
            <a:ext cx="154260" cy="1542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1782" y="2271432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Regras Configuráveis</a:t>
            </a:r>
            <a:endParaRPr lang="pt-PT" sz="1150" noProof="0" dirty="0"/>
          </a:p>
        </p:txBody>
      </p:sp>
      <p:sp>
        <p:nvSpPr>
          <p:cNvPr id="11" name="Text 7"/>
          <p:cNvSpPr/>
          <p:nvPr/>
        </p:nvSpPr>
        <p:spPr>
          <a:xfrm>
            <a:off x="4021782" y="2526746"/>
            <a:ext cx="20667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Cinco regras por evento: fins de semana, feriados, férias, sobreposições e intervalo mínimo.</a:t>
            </a:r>
            <a:endParaRPr lang="pt-PT" sz="1000" noProof="0" dirty="0"/>
          </a:p>
        </p:txBody>
      </p:sp>
      <p:sp>
        <p:nvSpPr>
          <p:cNvPr id="12" name="Shape 8"/>
          <p:cNvSpPr/>
          <p:nvPr/>
        </p:nvSpPr>
        <p:spPr>
          <a:xfrm>
            <a:off x="6341715" y="1950037"/>
            <a:ext cx="2352303" cy="1240930"/>
          </a:xfrm>
          <a:prstGeom prst="roundRect">
            <a:avLst>
              <a:gd name="adj" fmla="val 6223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9"/>
          <p:cNvSpPr/>
          <p:nvPr/>
        </p:nvSpPr>
        <p:spPr>
          <a:xfrm>
            <a:off x="6341715" y="1935750"/>
            <a:ext cx="2352303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0"/>
          <p:cNvSpPr/>
          <p:nvPr/>
        </p:nvSpPr>
        <p:spPr>
          <a:xfrm>
            <a:off x="7324985" y="1757230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0699" y="1872944"/>
            <a:ext cx="154260" cy="1542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84516" y="2271432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Regras Sempre Ativas</a:t>
            </a:r>
            <a:endParaRPr lang="pt-PT" sz="1150" noProof="0" dirty="0"/>
          </a:p>
        </p:txBody>
      </p:sp>
      <p:sp>
        <p:nvSpPr>
          <p:cNvPr id="17" name="Text 12"/>
          <p:cNvSpPr/>
          <p:nvPr/>
        </p:nvSpPr>
        <p:spPr>
          <a:xfrm>
            <a:off x="6484516" y="2526746"/>
            <a:ext cx="20667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Duração mínima e intervalo entre ocorrências aplicam-se sempre, sem configuração manual.</a:t>
            </a:r>
            <a:endParaRPr lang="pt-PT" sz="1000" noProof="0" dirty="0"/>
          </a:p>
        </p:txBody>
      </p:sp>
      <p:sp>
        <p:nvSpPr>
          <p:cNvPr id="18" name="Shape 13"/>
          <p:cNvSpPr/>
          <p:nvPr/>
        </p:nvSpPr>
        <p:spPr>
          <a:xfrm>
            <a:off x="3878982" y="3505380"/>
            <a:ext cx="4815036" cy="1051341"/>
          </a:xfrm>
          <a:prstGeom prst="roundRect">
            <a:avLst>
              <a:gd name="adj" fmla="val 7530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4"/>
          <p:cNvSpPr/>
          <p:nvPr/>
        </p:nvSpPr>
        <p:spPr>
          <a:xfrm>
            <a:off x="3878982" y="3491094"/>
            <a:ext cx="4815036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5"/>
          <p:cNvSpPr/>
          <p:nvPr/>
        </p:nvSpPr>
        <p:spPr>
          <a:xfrm>
            <a:off x="6093656" y="3312575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9370" y="3428288"/>
            <a:ext cx="154260" cy="1542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021782" y="3826776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Motor Extensível</a:t>
            </a:r>
            <a:endParaRPr lang="pt-PT" sz="1150" noProof="0" dirty="0"/>
          </a:p>
        </p:txBody>
      </p:sp>
      <p:sp>
        <p:nvSpPr>
          <p:cNvPr id="23" name="Text 17"/>
          <p:cNvSpPr/>
          <p:nvPr/>
        </p:nvSpPr>
        <p:spPr>
          <a:xfrm>
            <a:off x="4021782" y="4082090"/>
            <a:ext cx="4529435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Interface partilhada (id, fields, validate) numa lista central. Fazer uma nova regra é só um ficheiro com apenas a função de validação.</a:t>
            </a:r>
            <a:endParaRPr lang="pt-PT" sz="1000" noProof="0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862CDD62-90AD-A679-ECC8-231590F0D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10" y="146240"/>
            <a:ext cx="373702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78982" y="554608"/>
            <a:ext cx="1308497" cy="239539"/>
          </a:xfrm>
          <a:prstGeom prst="roundRect">
            <a:avLst>
              <a:gd name="adj" fmla="val 6441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 1"/>
          <p:cNvSpPr/>
          <p:nvPr/>
        </p:nvSpPr>
        <p:spPr>
          <a:xfrm>
            <a:off x="3960837" y="597917"/>
            <a:ext cx="1144786" cy="1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pt-PT" sz="80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IMPLEMENTAÇÃO · RF04</a:t>
            </a:r>
            <a:endParaRPr lang="pt-P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3878982" y="838274"/>
            <a:ext cx="4728939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pt-PT" sz="23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Sistema de Notificações</a:t>
            </a:r>
            <a:endParaRPr lang="pt-PT" sz="2350" noProof="0" dirty="0"/>
          </a:p>
        </p:txBody>
      </p:sp>
      <p:sp>
        <p:nvSpPr>
          <p:cNvPr id="6" name="Shape 3"/>
          <p:cNvSpPr/>
          <p:nvPr/>
        </p:nvSpPr>
        <p:spPr>
          <a:xfrm>
            <a:off x="3878982" y="1950036"/>
            <a:ext cx="2352303" cy="1248147"/>
          </a:xfrm>
          <a:prstGeom prst="roundRect">
            <a:avLst>
              <a:gd name="adj" fmla="val 6223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4"/>
          <p:cNvSpPr/>
          <p:nvPr/>
        </p:nvSpPr>
        <p:spPr>
          <a:xfrm>
            <a:off x="3878982" y="1935750"/>
            <a:ext cx="2352303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5"/>
          <p:cNvSpPr/>
          <p:nvPr/>
        </p:nvSpPr>
        <p:spPr>
          <a:xfrm>
            <a:off x="4862252" y="1757230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7966" y="1872944"/>
            <a:ext cx="154260" cy="1542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1782" y="2271432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Sino de Notificações</a:t>
            </a:r>
            <a:endParaRPr lang="pt-PT" sz="1150" noProof="0" dirty="0"/>
          </a:p>
        </p:txBody>
      </p:sp>
      <p:sp>
        <p:nvSpPr>
          <p:cNvPr id="11" name="Text 7"/>
          <p:cNvSpPr/>
          <p:nvPr/>
        </p:nvSpPr>
        <p:spPr>
          <a:xfrm>
            <a:off x="4021782" y="2526746"/>
            <a:ext cx="20667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Ícone no menu global consulta novas notificações a cada 60 segundos e mostra contador por ler.</a:t>
            </a:r>
            <a:endParaRPr lang="pt-PT" sz="1000" noProof="0" dirty="0"/>
          </a:p>
        </p:txBody>
      </p:sp>
      <p:sp>
        <p:nvSpPr>
          <p:cNvPr id="12" name="Shape 8"/>
          <p:cNvSpPr/>
          <p:nvPr/>
        </p:nvSpPr>
        <p:spPr>
          <a:xfrm>
            <a:off x="6341715" y="1950037"/>
            <a:ext cx="2352303" cy="1248146"/>
          </a:xfrm>
          <a:prstGeom prst="roundRect">
            <a:avLst>
              <a:gd name="adj" fmla="val 6223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9"/>
          <p:cNvSpPr/>
          <p:nvPr/>
        </p:nvSpPr>
        <p:spPr>
          <a:xfrm>
            <a:off x="6341715" y="1935750"/>
            <a:ext cx="2352303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0"/>
          <p:cNvSpPr/>
          <p:nvPr/>
        </p:nvSpPr>
        <p:spPr>
          <a:xfrm>
            <a:off x="7324985" y="1757230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0699" y="1872944"/>
            <a:ext cx="154260" cy="1542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84516" y="2271432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Prazo Configurável</a:t>
            </a:r>
            <a:endParaRPr lang="pt-PT" sz="1150" noProof="0" dirty="0"/>
          </a:p>
        </p:txBody>
      </p:sp>
      <p:sp>
        <p:nvSpPr>
          <p:cNvPr id="17" name="Text 12"/>
          <p:cNvSpPr/>
          <p:nvPr/>
        </p:nvSpPr>
        <p:spPr>
          <a:xfrm>
            <a:off x="6484516" y="2526746"/>
            <a:ext cx="20667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evento define uma antecedência de aviso, ajustável por ocorrência individual.</a:t>
            </a:r>
            <a:endParaRPr lang="pt-PT" sz="1000" noProof="0" dirty="0"/>
          </a:p>
        </p:txBody>
      </p:sp>
      <p:sp>
        <p:nvSpPr>
          <p:cNvPr id="18" name="Shape 13"/>
          <p:cNvSpPr/>
          <p:nvPr/>
        </p:nvSpPr>
        <p:spPr>
          <a:xfrm>
            <a:off x="3878982" y="3521975"/>
            <a:ext cx="4815036" cy="910754"/>
          </a:xfrm>
          <a:prstGeom prst="roundRect">
            <a:avLst>
              <a:gd name="adj" fmla="val 7530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4"/>
          <p:cNvSpPr/>
          <p:nvPr/>
        </p:nvSpPr>
        <p:spPr>
          <a:xfrm>
            <a:off x="3878982" y="3507688"/>
            <a:ext cx="4815036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5"/>
          <p:cNvSpPr/>
          <p:nvPr/>
        </p:nvSpPr>
        <p:spPr>
          <a:xfrm>
            <a:off x="6093656" y="3329169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9370" y="3444882"/>
            <a:ext cx="154260" cy="1542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021782" y="3843370"/>
            <a:ext cx="215393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Templates de Email — Por Fazer</a:t>
            </a:r>
            <a:endParaRPr lang="pt-PT" sz="1150" noProof="0" dirty="0"/>
          </a:p>
        </p:txBody>
      </p:sp>
      <p:sp>
        <p:nvSpPr>
          <p:cNvPr id="23" name="Text 17"/>
          <p:cNvSpPr/>
          <p:nvPr/>
        </p:nvSpPr>
        <p:spPr>
          <a:xfrm>
            <a:off x="4021782" y="4098684"/>
            <a:ext cx="452943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Campo de auxílio para </a:t>
            </a: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email fica como trabalho futuro, sem obstáculos técnicos.</a:t>
            </a:r>
            <a:endParaRPr lang="pt-PT" sz="10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18625" y="554608"/>
            <a:ext cx="1050000" cy="239539"/>
          </a:xfrm>
          <a:prstGeom prst="roundRect">
            <a:avLst>
              <a:gd name="adj" fmla="val 6441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 1"/>
          <p:cNvSpPr/>
          <p:nvPr/>
        </p:nvSpPr>
        <p:spPr>
          <a:xfrm>
            <a:off x="686009" y="597917"/>
            <a:ext cx="1125231" cy="1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pt-PT" sz="80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TRABALHO FUTURO</a:t>
            </a:r>
            <a:endParaRPr lang="pt-P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618625" y="838274"/>
            <a:ext cx="7785904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pt-PT" sz="23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Em Desenvolvimento: RF05 e Restante do RF04</a:t>
            </a:r>
            <a:endParaRPr lang="pt-PT" sz="2350" noProof="0" dirty="0"/>
          </a:p>
        </p:txBody>
      </p:sp>
      <p:sp>
        <p:nvSpPr>
          <p:cNvPr id="6" name="Shape 3"/>
          <p:cNvSpPr/>
          <p:nvPr/>
        </p:nvSpPr>
        <p:spPr>
          <a:xfrm>
            <a:off x="618625" y="1950036"/>
            <a:ext cx="3720521" cy="1255308"/>
          </a:xfrm>
          <a:prstGeom prst="roundRect">
            <a:avLst>
              <a:gd name="adj" fmla="val 6223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4"/>
          <p:cNvSpPr/>
          <p:nvPr/>
        </p:nvSpPr>
        <p:spPr>
          <a:xfrm>
            <a:off x="618625" y="1935750"/>
            <a:ext cx="3720521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5"/>
          <p:cNvSpPr/>
          <p:nvPr/>
        </p:nvSpPr>
        <p:spPr>
          <a:xfrm>
            <a:off x="2288385" y="1757230"/>
            <a:ext cx="381000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Text 6"/>
          <p:cNvSpPr/>
          <p:nvPr/>
        </p:nvSpPr>
        <p:spPr>
          <a:xfrm>
            <a:off x="853737" y="2271432"/>
            <a:ext cx="249042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RF05 — Exportação Excel</a:t>
            </a:r>
            <a:endParaRPr lang="pt-PT" sz="1150" noProof="0" dirty="0"/>
          </a:p>
        </p:txBody>
      </p:sp>
      <p:sp>
        <p:nvSpPr>
          <p:cNvPr id="11" name="Text 7"/>
          <p:cNvSpPr/>
          <p:nvPr/>
        </p:nvSpPr>
        <p:spPr>
          <a:xfrm>
            <a:off x="853737" y="2526746"/>
            <a:ext cx="3402696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Uma folha de cálculo por ano letivo, uma linha por ocorrência, gerada com exceljs a partir dos dados já modelados. Não implementado.</a:t>
            </a:r>
            <a:endParaRPr lang="pt-PT" sz="1000" noProof="0" dirty="0"/>
          </a:p>
        </p:txBody>
      </p:sp>
      <p:sp>
        <p:nvSpPr>
          <p:cNvPr id="12" name="Shape 8"/>
          <p:cNvSpPr/>
          <p:nvPr/>
        </p:nvSpPr>
        <p:spPr>
          <a:xfrm>
            <a:off x="4825762" y="1950036"/>
            <a:ext cx="3720521" cy="1255308"/>
          </a:xfrm>
          <a:prstGeom prst="roundRect">
            <a:avLst>
              <a:gd name="adj" fmla="val 6223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9"/>
          <p:cNvSpPr/>
          <p:nvPr/>
        </p:nvSpPr>
        <p:spPr>
          <a:xfrm>
            <a:off x="4825762" y="1935750"/>
            <a:ext cx="3720521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0"/>
          <p:cNvSpPr/>
          <p:nvPr/>
        </p:nvSpPr>
        <p:spPr>
          <a:xfrm>
            <a:off x="6495522" y="1757230"/>
            <a:ext cx="381000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Text 11"/>
          <p:cNvSpPr/>
          <p:nvPr/>
        </p:nvSpPr>
        <p:spPr>
          <a:xfrm>
            <a:off x="5060875" y="2271432"/>
            <a:ext cx="233802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RF04 — Templates de Email</a:t>
            </a:r>
            <a:endParaRPr lang="pt-PT" sz="1150" noProof="0" dirty="0"/>
          </a:p>
        </p:txBody>
      </p:sp>
      <p:sp>
        <p:nvSpPr>
          <p:cNvPr id="17" name="Text 12"/>
          <p:cNvSpPr/>
          <p:nvPr/>
        </p:nvSpPr>
        <p:spPr>
          <a:xfrm>
            <a:off x="5060875" y="2526746"/>
            <a:ext cx="3250296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Falta o campo de texto livre por evento e a forma de o copiar para envio manual; o aviso in-app já está entregue.</a:t>
            </a:r>
            <a:endParaRPr lang="pt-PT" sz="1000" noProof="0" dirty="0"/>
          </a:p>
        </p:txBody>
      </p:sp>
      <p:sp>
        <p:nvSpPr>
          <p:cNvPr id="18" name="Shape 13"/>
          <p:cNvSpPr/>
          <p:nvPr/>
        </p:nvSpPr>
        <p:spPr>
          <a:xfrm>
            <a:off x="618625" y="3498163"/>
            <a:ext cx="7927658" cy="910754"/>
          </a:xfrm>
          <a:prstGeom prst="roundRect">
            <a:avLst>
              <a:gd name="adj" fmla="val 7530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4"/>
          <p:cNvSpPr/>
          <p:nvPr/>
        </p:nvSpPr>
        <p:spPr>
          <a:xfrm>
            <a:off x="618625" y="3483876"/>
            <a:ext cx="7927658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5"/>
          <p:cNvSpPr/>
          <p:nvPr/>
        </p:nvSpPr>
        <p:spPr>
          <a:xfrm>
            <a:off x="4391954" y="3305357"/>
            <a:ext cx="381000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Text 16"/>
          <p:cNvSpPr/>
          <p:nvPr/>
        </p:nvSpPr>
        <p:spPr>
          <a:xfrm>
            <a:off x="853737" y="3819558"/>
            <a:ext cx="249042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Sem Obstáculos Técnicos</a:t>
            </a:r>
            <a:endParaRPr lang="pt-PT" sz="1150" noProof="0" dirty="0"/>
          </a:p>
        </p:txBody>
      </p:sp>
      <p:sp>
        <p:nvSpPr>
          <p:cNvPr id="23" name="Text 17"/>
          <p:cNvSpPr/>
          <p:nvPr/>
        </p:nvSpPr>
        <p:spPr>
          <a:xfrm>
            <a:off x="853737" y="4074872"/>
            <a:ext cx="7457433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Ambos seguem o mesmo padrão Controller-Service-Data já usado em todo o backend — ficaram de fora só por tempo, não por dificuldade.</a:t>
            </a:r>
            <a:endParaRPr lang="pt-PT" sz="1000" noProof="0" dirty="0"/>
          </a:p>
        </p:txBody>
      </p:sp>
      <p:pic>
        <p:nvPicPr>
          <p:cNvPr id="24" name="Graphic 24" descr="Sino de notificaçõ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02685" y="1866900"/>
            <a:ext cx="152400" cy="152400"/>
          </a:xfrm>
          <a:prstGeom prst="rect">
            <a:avLst/>
          </a:prstGeom>
        </p:spPr>
      </p:pic>
      <p:pic>
        <p:nvPicPr>
          <p:cNvPr id="25" name="Graphic 25" descr="Prazo configuráve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9822" y="1866900"/>
            <a:ext cx="152400" cy="152400"/>
          </a:xfrm>
          <a:prstGeom prst="rect">
            <a:avLst/>
          </a:prstGeom>
        </p:spPr>
      </p:pic>
      <p:pic>
        <p:nvPicPr>
          <p:cNvPr id="26" name="Graphic 26" descr="Templates de email por faz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6254" y="3419491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44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78982" y="554608"/>
            <a:ext cx="1308497" cy="239539"/>
          </a:xfrm>
          <a:prstGeom prst="roundRect">
            <a:avLst>
              <a:gd name="adj" fmla="val 6441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 1"/>
          <p:cNvSpPr/>
          <p:nvPr/>
        </p:nvSpPr>
        <p:spPr>
          <a:xfrm>
            <a:off x="3960837" y="597917"/>
            <a:ext cx="1144786" cy="1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pt-PT" sz="80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IMPLEMENTAÇÃO · RF06</a:t>
            </a:r>
            <a:endParaRPr lang="pt-P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3878982" y="838274"/>
            <a:ext cx="4728939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pt-PT" sz="23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Autenticação e Controlo de Acesso</a:t>
            </a:r>
            <a:endParaRPr lang="pt-PT" sz="2350" noProof="0" dirty="0"/>
          </a:p>
        </p:txBody>
      </p:sp>
      <p:sp>
        <p:nvSpPr>
          <p:cNvPr id="6" name="Shape 3"/>
          <p:cNvSpPr/>
          <p:nvPr/>
        </p:nvSpPr>
        <p:spPr>
          <a:xfrm>
            <a:off x="3878982" y="1950037"/>
            <a:ext cx="2352303" cy="1101998"/>
          </a:xfrm>
          <a:prstGeom prst="roundRect">
            <a:avLst>
              <a:gd name="adj" fmla="val 6223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4"/>
          <p:cNvSpPr/>
          <p:nvPr/>
        </p:nvSpPr>
        <p:spPr>
          <a:xfrm>
            <a:off x="3878982" y="1935750"/>
            <a:ext cx="2352303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5"/>
          <p:cNvSpPr/>
          <p:nvPr/>
        </p:nvSpPr>
        <p:spPr>
          <a:xfrm>
            <a:off x="4862252" y="1757230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7966" y="1872944"/>
            <a:ext cx="154260" cy="1542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1782" y="2271432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Administrador</a:t>
            </a:r>
            <a:endParaRPr lang="pt-PT" sz="1150" noProof="0" dirty="0"/>
          </a:p>
        </p:txBody>
      </p:sp>
      <p:sp>
        <p:nvSpPr>
          <p:cNvPr id="11" name="Text 7"/>
          <p:cNvSpPr/>
          <p:nvPr/>
        </p:nvSpPr>
        <p:spPr>
          <a:xfrm>
            <a:off x="4021782" y="2526746"/>
            <a:ext cx="20667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Acesso total ao sistema, gestão de utilizadores e configurações globais.</a:t>
            </a:r>
            <a:endParaRPr lang="pt-PT" sz="1000" noProof="0" dirty="0"/>
          </a:p>
        </p:txBody>
      </p:sp>
      <p:sp>
        <p:nvSpPr>
          <p:cNvPr id="12" name="Shape 8"/>
          <p:cNvSpPr/>
          <p:nvPr/>
        </p:nvSpPr>
        <p:spPr>
          <a:xfrm>
            <a:off x="6341715" y="1950037"/>
            <a:ext cx="2352303" cy="1101998"/>
          </a:xfrm>
          <a:prstGeom prst="roundRect">
            <a:avLst>
              <a:gd name="adj" fmla="val 6223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9"/>
          <p:cNvSpPr/>
          <p:nvPr/>
        </p:nvSpPr>
        <p:spPr>
          <a:xfrm>
            <a:off x="6341715" y="1935750"/>
            <a:ext cx="2352303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0"/>
          <p:cNvSpPr/>
          <p:nvPr/>
        </p:nvSpPr>
        <p:spPr>
          <a:xfrm>
            <a:off x="7324985" y="1757230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0699" y="1872944"/>
            <a:ext cx="154260" cy="1542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84516" y="2271432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Editor</a:t>
            </a:r>
            <a:endParaRPr lang="pt-PT" sz="1150" noProof="0" dirty="0"/>
          </a:p>
        </p:txBody>
      </p:sp>
      <p:sp>
        <p:nvSpPr>
          <p:cNvPr id="17" name="Text 12"/>
          <p:cNvSpPr/>
          <p:nvPr/>
        </p:nvSpPr>
        <p:spPr>
          <a:xfrm>
            <a:off x="6484516" y="2526746"/>
            <a:ext cx="206670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CRUD completo de eventos e acesso ao Motor de Migração.</a:t>
            </a:r>
            <a:endParaRPr lang="pt-PT" sz="1000" noProof="0" dirty="0"/>
          </a:p>
        </p:txBody>
      </p:sp>
      <p:sp>
        <p:nvSpPr>
          <p:cNvPr id="18" name="Shape 13"/>
          <p:cNvSpPr/>
          <p:nvPr/>
        </p:nvSpPr>
        <p:spPr>
          <a:xfrm>
            <a:off x="3878982" y="3355272"/>
            <a:ext cx="4815036" cy="910754"/>
          </a:xfrm>
          <a:prstGeom prst="roundRect">
            <a:avLst>
              <a:gd name="adj" fmla="val 7530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4"/>
          <p:cNvSpPr/>
          <p:nvPr/>
        </p:nvSpPr>
        <p:spPr>
          <a:xfrm>
            <a:off x="3878982" y="3340985"/>
            <a:ext cx="4815036" cy="57150"/>
          </a:xfrm>
          <a:prstGeom prst="roundRect">
            <a:avLst>
              <a:gd name="adj" fmla="val 33746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5"/>
          <p:cNvSpPr/>
          <p:nvPr/>
        </p:nvSpPr>
        <p:spPr>
          <a:xfrm>
            <a:off x="6093656" y="3162466"/>
            <a:ext cx="385688" cy="385688"/>
          </a:xfrm>
          <a:prstGeom prst="roundRect">
            <a:avLst>
              <a:gd name="adj" fmla="val 14817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9370" y="3278179"/>
            <a:ext cx="154260" cy="1542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021782" y="3676667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t-PT" sz="11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Visualizador</a:t>
            </a:r>
            <a:endParaRPr lang="pt-PT" sz="1150" noProof="0" dirty="0"/>
          </a:p>
        </p:txBody>
      </p:sp>
      <p:sp>
        <p:nvSpPr>
          <p:cNvPr id="23" name="Text 17"/>
          <p:cNvSpPr/>
          <p:nvPr/>
        </p:nvSpPr>
        <p:spPr>
          <a:xfrm>
            <a:off x="4021782" y="3931981"/>
            <a:ext cx="452943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t-PT" sz="10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Acesso só de leitura ao calendário e eventos publicados.</a:t>
            </a:r>
            <a:endParaRPr lang="pt-PT" sz="10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46240" y="380628"/>
            <a:ext cx="651793" cy="218033"/>
          </a:xfrm>
          <a:prstGeom prst="roundRect">
            <a:avLst>
              <a:gd name="adj" fmla="val 6562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 1"/>
          <p:cNvSpPr/>
          <p:nvPr/>
        </p:nvSpPr>
        <p:spPr>
          <a:xfrm>
            <a:off x="3922514" y="421109"/>
            <a:ext cx="95644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pt-PT" sz="75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QUALIDADE</a:t>
            </a:r>
            <a:endParaRPr lang="pt-PT" sz="750" noProof="0" dirty="0"/>
          </a:p>
        </p:txBody>
      </p:sp>
      <p:sp>
        <p:nvSpPr>
          <p:cNvPr id="5" name="Text 2"/>
          <p:cNvSpPr/>
          <p:nvPr/>
        </p:nvSpPr>
        <p:spPr>
          <a:xfrm>
            <a:off x="3846240" y="636612"/>
            <a:ext cx="326238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PT" sz="220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Testes e Qualidade</a:t>
            </a:r>
            <a:endParaRPr lang="pt-PT" sz="2200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6240" y="1333555"/>
            <a:ext cx="298028" cy="2980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46240" y="1750274"/>
            <a:ext cx="18597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PT" sz="110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Testes Unitários</a:t>
            </a:r>
            <a:endParaRPr lang="pt-PT" sz="1100" noProof="0" dirty="0"/>
          </a:p>
        </p:txBody>
      </p:sp>
      <p:sp>
        <p:nvSpPr>
          <p:cNvPr id="9" name="Text 5"/>
          <p:cNvSpPr/>
          <p:nvPr/>
        </p:nvSpPr>
        <p:spPr>
          <a:xfrm>
            <a:off x="3846240" y="1982595"/>
            <a:ext cx="52977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pt-PT" sz="9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Suite Vitest: 13 ficheiros, 79 testes, ~97% de cobertura de statements nas regras de negócio, motor de migração e autenticação.</a:t>
            </a:r>
            <a:endParaRPr lang="pt-PT" sz="900" noProof="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6240" y="2416559"/>
            <a:ext cx="298028" cy="2980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46240" y="2833278"/>
            <a:ext cx="18597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PT" sz="110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Testes Manuais</a:t>
            </a:r>
            <a:endParaRPr lang="pt-PT" sz="1100" noProof="0" dirty="0"/>
          </a:p>
        </p:txBody>
      </p:sp>
      <p:sp>
        <p:nvSpPr>
          <p:cNvPr id="12" name="Text 7"/>
          <p:cNvSpPr/>
          <p:nvPr/>
        </p:nvSpPr>
        <p:spPr>
          <a:xfrm>
            <a:off x="3846240" y="3065598"/>
            <a:ext cx="4880521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pt-PT" sz="9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Camadas de serviço, acesso a dados e endpoints da API validados manualmente pela interface e por pedidos HTTP diretos.</a:t>
            </a:r>
            <a:endParaRPr lang="pt-PT" sz="900" noProof="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6240" y="3525496"/>
            <a:ext cx="298028" cy="2980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46240" y="3942215"/>
            <a:ext cx="18597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PT" sz="110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Testes de Utilização</a:t>
            </a:r>
            <a:endParaRPr lang="pt-PT" sz="1100" noProof="0" dirty="0"/>
          </a:p>
        </p:txBody>
      </p:sp>
      <p:sp>
        <p:nvSpPr>
          <p:cNvPr id="15" name="Text 9"/>
          <p:cNvSpPr/>
          <p:nvPr/>
        </p:nvSpPr>
        <p:spPr>
          <a:xfrm>
            <a:off x="3846240" y="4174535"/>
            <a:ext cx="4880521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pt-PT" sz="9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Testado por um grupo de funcionários dos serviços académicos do ISEL, com feedback depois reportado em reuniões, de modo a serem feitos ajustes.</a:t>
            </a:r>
            <a:endParaRPr lang="pt-PT" sz="9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CA6C-6562-A729-D49E-54225987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Agrupar 38">
            <a:extLst>
              <a:ext uri="{FF2B5EF4-FFF2-40B4-BE49-F238E27FC236}">
                <a16:creationId xmlns:a16="http://schemas.microsoft.com/office/drawing/2014/main" id="{0EBD7A7F-6D4A-65B5-7884-BB729D30A073}"/>
              </a:ext>
            </a:extLst>
          </p:cNvPr>
          <p:cNvGrpSpPr/>
          <p:nvPr/>
        </p:nvGrpSpPr>
        <p:grpSpPr>
          <a:xfrm>
            <a:off x="871340" y="1821284"/>
            <a:ext cx="7401471" cy="2595562"/>
            <a:chOff x="745765" y="1819497"/>
            <a:chExt cx="7401471" cy="2595562"/>
          </a:xfrm>
        </p:grpSpPr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88D026C3-9320-6ABC-F3E3-3EB55AE6C88E}"/>
                </a:ext>
              </a:extLst>
            </p:cNvPr>
            <p:cNvGrpSpPr/>
            <p:nvPr/>
          </p:nvGrpSpPr>
          <p:grpSpPr>
            <a:xfrm>
              <a:off x="745765" y="1819497"/>
              <a:ext cx="3453036" cy="1199703"/>
              <a:chOff x="810394" y="1780355"/>
              <a:chExt cx="3453036" cy="1199703"/>
            </a:xfrm>
          </p:grpSpPr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40E527CA-2120-761E-60F2-56231D258C55}"/>
                  </a:ext>
                </a:extLst>
              </p:cNvPr>
              <p:cNvSpPr/>
              <p:nvPr/>
            </p:nvSpPr>
            <p:spPr>
              <a:xfrm>
                <a:off x="810394" y="1941610"/>
                <a:ext cx="3453036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7" name="Shape 5">
                <a:extLst>
                  <a:ext uri="{FF2B5EF4-FFF2-40B4-BE49-F238E27FC236}">
                    <a16:creationId xmlns:a16="http://schemas.microsoft.com/office/drawing/2014/main" id="{B50CED5F-D29F-0D25-DA47-F6F8067E8415}"/>
                  </a:ext>
                </a:extLst>
              </p:cNvPr>
              <p:cNvSpPr/>
              <p:nvPr/>
            </p:nvSpPr>
            <p:spPr>
              <a:xfrm>
                <a:off x="810394" y="1927323"/>
                <a:ext cx="3453036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8" name="Shape 6">
                <a:extLst>
                  <a:ext uri="{FF2B5EF4-FFF2-40B4-BE49-F238E27FC236}">
                    <a16:creationId xmlns:a16="http://schemas.microsoft.com/office/drawing/2014/main" id="{E3D298B4-BAD6-7C43-52DE-01E4A2DEA093}"/>
                  </a:ext>
                </a:extLst>
              </p:cNvPr>
              <p:cNvSpPr/>
              <p:nvPr/>
            </p:nvSpPr>
            <p:spPr>
              <a:xfrm>
                <a:off x="2375582" y="1780355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9" name="Image 0" descr="preencoded.png">
                <a:extLst>
                  <a:ext uri="{FF2B5EF4-FFF2-40B4-BE49-F238E27FC236}">
                    <a16:creationId xmlns:a16="http://schemas.microsoft.com/office/drawing/2014/main" id="{7F6FD5D4-EEA4-A42C-283B-547FD9E7DA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472320" y="1877093"/>
                <a:ext cx="129034" cy="129034"/>
              </a:xfrm>
              <a:prstGeom prst="rect">
                <a:avLst/>
              </a:prstGeom>
            </p:spPr>
          </p:pic>
          <p:sp>
            <p:nvSpPr>
              <p:cNvPr id="10" name="Text 7">
                <a:extLst>
                  <a:ext uri="{FF2B5EF4-FFF2-40B4-BE49-F238E27FC236}">
                    <a16:creationId xmlns:a16="http://schemas.microsoft.com/office/drawing/2014/main" id="{E5764B5D-6758-2FF4-AEE9-212D01922FA2}"/>
                  </a:ext>
                </a:extLst>
              </p:cNvPr>
              <p:cNvSpPr/>
              <p:nvPr/>
            </p:nvSpPr>
            <p:spPr>
              <a:xfrm>
                <a:off x="932209" y="2210394"/>
                <a:ext cx="3209403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Provisionamento</a:t>
                </a:r>
                <a:endParaRPr lang="pt-PT" sz="950" noProof="0" dirty="0"/>
              </a:p>
            </p:txBody>
          </p:sp>
          <p:sp>
            <p:nvSpPr>
              <p:cNvPr id="11" name="Text 8">
                <a:extLst>
                  <a:ext uri="{FF2B5EF4-FFF2-40B4-BE49-F238E27FC236}">
                    <a16:creationId xmlns:a16="http://schemas.microsoft.com/office/drawing/2014/main" id="{D2514EA4-5841-B439-CCE8-742825D84FA1}"/>
                  </a:ext>
                </a:extLst>
              </p:cNvPr>
              <p:cNvSpPr/>
              <p:nvPr/>
            </p:nvSpPr>
            <p:spPr>
              <a:xfrm>
                <a:off x="932210" y="2414884"/>
                <a:ext cx="3209404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Receber a VM do ISEL e instalar Node.js, pnpm e um servidor PostgreSQL.</a:t>
                </a:r>
                <a:endParaRPr lang="pt-PT" sz="800" noProof="0" dirty="0"/>
              </a:p>
            </p:txBody>
          </p:sp>
        </p:grpSp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7626B983-F08D-B8D7-6197-A73F02103784}"/>
                </a:ext>
              </a:extLst>
            </p:cNvPr>
            <p:cNvGrpSpPr/>
            <p:nvPr/>
          </p:nvGrpSpPr>
          <p:grpSpPr>
            <a:xfrm>
              <a:off x="745840" y="3209997"/>
              <a:ext cx="3453036" cy="1199704"/>
              <a:chOff x="810394" y="3051942"/>
              <a:chExt cx="3453036" cy="1199704"/>
            </a:xfrm>
          </p:grpSpPr>
          <p:sp>
            <p:nvSpPr>
              <p:cNvPr id="18" name="Shape 14">
                <a:extLst>
                  <a:ext uri="{FF2B5EF4-FFF2-40B4-BE49-F238E27FC236}">
                    <a16:creationId xmlns:a16="http://schemas.microsoft.com/office/drawing/2014/main" id="{3A2936CB-9C60-7C5C-3F59-4125803FF029}"/>
                  </a:ext>
                </a:extLst>
              </p:cNvPr>
              <p:cNvSpPr/>
              <p:nvPr/>
            </p:nvSpPr>
            <p:spPr>
              <a:xfrm>
                <a:off x="810394" y="3213198"/>
                <a:ext cx="3453036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9" name="Shape 15">
                <a:extLst>
                  <a:ext uri="{FF2B5EF4-FFF2-40B4-BE49-F238E27FC236}">
                    <a16:creationId xmlns:a16="http://schemas.microsoft.com/office/drawing/2014/main" id="{948F899F-D348-BFB4-1EA8-D1C490C8EDB5}"/>
                  </a:ext>
                </a:extLst>
              </p:cNvPr>
              <p:cNvSpPr/>
              <p:nvPr/>
            </p:nvSpPr>
            <p:spPr>
              <a:xfrm>
                <a:off x="810394" y="3198910"/>
                <a:ext cx="3453036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0" name="Shape 16">
                <a:extLst>
                  <a:ext uri="{FF2B5EF4-FFF2-40B4-BE49-F238E27FC236}">
                    <a16:creationId xmlns:a16="http://schemas.microsoft.com/office/drawing/2014/main" id="{E2673AA3-3BFB-AB3C-4C5A-7C44A0E5F75F}"/>
                  </a:ext>
                </a:extLst>
              </p:cNvPr>
              <p:cNvSpPr/>
              <p:nvPr/>
            </p:nvSpPr>
            <p:spPr>
              <a:xfrm>
                <a:off x="2375582" y="3051942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21" name="Image 2" descr="preencoded.png">
                <a:extLst>
                  <a:ext uri="{FF2B5EF4-FFF2-40B4-BE49-F238E27FC236}">
                    <a16:creationId xmlns:a16="http://schemas.microsoft.com/office/drawing/2014/main" id="{9DEF1D2B-6B89-2836-9262-13AC19798E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72320" y="3148681"/>
                <a:ext cx="129034" cy="129034"/>
              </a:xfrm>
              <a:prstGeom prst="rect">
                <a:avLst/>
              </a:prstGeom>
            </p:spPr>
          </p:pic>
          <p:sp>
            <p:nvSpPr>
              <p:cNvPr id="22" name="Text 17">
                <a:extLst>
                  <a:ext uri="{FF2B5EF4-FFF2-40B4-BE49-F238E27FC236}">
                    <a16:creationId xmlns:a16="http://schemas.microsoft.com/office/drawing/2014/main" id="{34C54C1A-EBED-40B7-4B22-4CE07A59EE09}"/>
                  </a:ext>
                </a:extLst>
              </p:cNvPr>
              <p:cNvSpPr/>
              <p:nvPr/>
            </p:nvSpPr>
            <p:spPr>
              <a:xfrm>
                <a:off x="932210" y="3481981"/>
                <a:ext cx="3209404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Execução Persistente</a:t>
                </a:r>
                <a:endParaRPr lang="pt-PT" sz="950" noProof="0" dirty="0"/>
              </a:p>
            </p:txBody>
          </p:sp>
          <p:sp>
            <p:nvSpPr>
              <p:cNvPr id="23" name="Text 18">
                <a:extLst>
                  <a:ext uri="{FF2B5EF4-FFF2-40B4-BE49-F238E27FC236}">
                    <a16:creationId xmlns:a16="http://schemas.microsoft.com/office/drawing/2014/main" id="{00E39666-131A-6619-EF85-10D62807C72D}"/>
                  </a:ext>
                </a:extLst>
              </p:cNvPr>
              <p:cNvSpPr/>
              <p:nvPr/>
            </p:nvSpPr>
            <p:spPr>
              <a:xfrm>
                <a:off x="932210" y="3686471"/>
                <a:ext cx="3209404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pnpm build e um processo gerido por pm2 ou systemd, que reinicia automaticamente após crash ou reboot.</a:t>
                </a:r>
                <a:endParaRPr lang="pt-PT" sz="800" noProof="0" dirty="0"/>
              </a:p>
            </p:txBody>
          </p:sp>
        </p:grpSp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17DAA023-20B7-25ED-80BB-F272CFEC644B}"/>
                </a:ext>
              </a:extLst>
            </p:cNvPr>
            <p:cNvGrpSpPr/>
            <p:nvPr/>
          </p:nvGrpSpPr>
          <p:grpSpPr>
            <a:xfrm>
              <a:off x="4694126" y="3215355"/>
              <a:ext cx="3453110" cy="1199704"/>
              <a:chOff x="4758680" y="3057300"/>
              <a:chExt cx="3453110" cy="1199704"/>
            </a:xfrm>
          </p:grpSpPr>
          <p:sp>
            <p:nvSpPr>
              <p:cNvPr id="24" name="Shape 19">
                <a:extLst>
                  <a:ext uri="{FF2B5EF4-FFF2-40B4-BE49-F238E27FC236}">
                    <a16:creationId xmlns:a16="http://schemas.microsoft.com/office/drawing/2014/main" id="{D6CD0ACF-C712-3127-9094-916D083B4ABF}"/>
                  </a:ext>
                </a:extLst>
              </p:cNvPr>
              <p:cNvSpPr/>
              <p:nvPr/>
            </p:nvSpPr>
            <p:spPr>
              <a:xfrm>
                <a:off x="4758680" y="3218556"/>
                <a:ext cx="3453110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5" name="Shape 20">
                <a:extLst>
                  <a:ext uri="{FF2B5EF4-FFF2-40B4-BE49-F238E27FC236}">
                    <a16:creationId xmlns:a16="http://schemas.microsoft.com/office/drawing/2014/main" id="{53DDD076-A5A1-8DD6-BDC6-633B168C62A0}"/>
                  </a:ext>
                </a:extLst>
              </p:cNvPr>
              <p:cNvSpPr/>
              <p:nvPr/>
            </p:nvSpPr>
            <p:spPr>
              <a:xfrm>
                <a:off x="4758680" y="3204268"/>
                <a:ext cx="3453110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26" name="Shape 21">
                <a:extLst>
                  <a:ext uri="{FF2B5EF4-FFF2-40B4-BE49-F238E27FC236}">
                    <a16:creationId xmlns:a16="http://schemas.microsoft.com/office/drawing/2014/main" id="{E03D0808-B0C1-217F-7AE8-79571547A9E7}"/>
                  </a:ext>
                </a:extLst>
              </p:cNvPr>
              <p:cNvSpPr/>
              <p:nvPr/>
            </p:nvSpPr>
            <p:spPr>
              <a:xfrm>
                <a:off x="6323943" y="3057300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pic>
            <p:nvPicPr>
              <p:cNvPr id="27" name="Image 3" descr="preencoded.png">
                <a:extLst>
                  <a:ext uri="{FF2B5EF4-FFF2-40B4-BE49-F238E27FC236}">
                    <a16:creationId xmlns:a16="http://schemas.microsoft.com/office/drawing/2014/main" id="{29B41BEE-4D24-F22C-F4A2-CAC508FF59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420681" y="3154039"/>
                <a:ext cx="129034" cy="129034"/>
              </a:xfrm>
              <a:prstGeom prst="rect">
                <a:avLst/>
              </a:prstGeom>
            </p:spPr>
          </p:pic>
          <p:sp>
            <p:nvSpPr>
              <p:cNvPr id="28" name="Text 22">
                <a:extLst>
                  <a:ext uri="{FF2B5EF4-FFF2-40B4-BE49-F238E27FC236}">
                    <a16:creationId xmlns:a16="http://schemas.microsoft.com/office/drawing/2014/main" id="{000770EA-CB37-1E2A-8808-C5CFAE7F4C52}"/>
                  </a:ext>
                </a:extLst>
              </p:cNvPr>
              <p:cNvSpPr/>
              <p:nvPr/>
            </p:nvSpPr>
            <p:spPr>
              <a:xfrm>
                <a:off x="4880496" y="3487339"/>
                <a:ext cx="3209479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Rede &amp; Backups</a:t>
                </a:r>
                <a:endParaRPr lang="pt-PT" sz="950" noProof="0" dirty="0"/>
              </a:p>
            </p:txBody>
          </p:sp>
          <p:sp>
            <p:nvSpPr>
              <p:cNvPr id="29" name="Text 23">
                <a:extLst>
                  <a:ext uri="{FF2B5EF4-FFF2-40B4-BE49-F238E27FC236}">
                    <a16:creationId xmlns:a16="http://schemas.microsoft.com/office/drawing/2014/main" id="{0908BB3E-BEB7-23BE-D545-F71F1B1A496D}"/>
                  </a:ext>
                </a:extLst>
              </p:cNvPr>
              <p:cNvSpPr/>
              <p:nvPr/>
            </p:nvSpPr>
            <p:spPr>
              <a:xfrm>
                <a:off x="4880496" y="3691829"/>
                <a:ext cx="3209479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Nginx como reverse proxy com TLS, e um pg_dump noturno agendado para a base de dados.</a:t>
                </a:r>
                <a:endParaRPr lang="pt-PT" sz="800" noProof="0" dirty="0"/>
              </a:p>
            </p:txBody>
          </p:sp>
        </p:grp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A5874B83-D670-11E8-405F-9CA354F4336D}"/>
                </a:ext>
              </a:extLst>
            </p:cNvPr>
            <p:cNvGrpSpPr/>
            <p:nvPr/>
          </p:nvGrpSpPr>
          <p:grpSpPr>
            <a:xfrm>
              <a:off x="4694126" y="1821284"/>
              <a:ext cx="3453110" cy="1199703"/>
              <a:chOff x="4758680" y="1791965"/>
              <a:chExt cx="3453110" cy="1199703"/>
            </a:xfrm>
          </p:grpSpPr>
          <p:sp>
            <p:nvSpPr>
              <p:cNvPr id="12" name="Shape 9">
                <a:extLst>
                  <a:ext uri="{FF2B5EF4-FFF2-40B4-BE49-F238E27FC236}">
                    <a16:creationId xmlns:a16="http://schemas.microsoft.com/office/drawing/2014/main" id="{18AD33E5-91C3-AFAB-D673-F2DA3CDA8D35}"/>
                  </a:ext>
                </a:extLst>
              </p:cNvPr>
              <p:cNvSpPr/>
              <p:nvPr/>
            </p:nvSpPr>
            <p:spPr>
              <a:xfrm>
                <a:off x="4758680" y="1953220"/>
                <a:ext cx="3453110" cy="1038448"/>
              </a:xfrm>
              <a:prstGeom prst="roundRect">
                <a:avLst>
                  <a:gd name="adj" fmla="val 6604"/>
                </a:avLst>
              </a:prstGeom>
              <a:solidFill>
                <a:srgbClr val="FFFAFA"/>
              </a:solidFill>
              <a:ln w="14288">
                <a:solidFill>
                  <a:srgbClr val="D9CECE"/>
                </a:solidFill>
                <a:prstDash val="solid"/>
              </a:ln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3" name="Shape 10">
                <a:extLst>
                  <a:ext uri="{FF2B5EF4-FFF2-40B4-BE49-F238E27FC236}">
                    <a16:creationId xmlns:a16="http://schemas.microsoft.com/office/drawing/2014/main" id="{3063C676-8CD7-6431-6AF6-8D35B6F9E0E0}"/>
                  </a:ext>
                </a:extLst>
              </p:cNvPr>
              <p:cNvSpPr/>
              <p:nvPr/>
            </p:nvSpPr>
            <p:spPr>
              <a:xfrm>
                <a:off x="4758680" y="1938933"/>
                <a:ext cx="3453110" cy="57150"/>
              </a:xfrm>
              <a:prstGeom prst="roundRect">
                <a:avLst>
                  <a:gd name="adj" fmla="val 28224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4" name="Shape 11">
                <a:extLst>
                  <a:ext uri="{FF2B5EF4-FFF2-40B4-BE49-F238E27FC236}">
                    <a16:creationId xmlns:a16="http://schemas.microsoft.com/office/drawing/2014/main" id="{A182C6BF-31A1-D786-D188-6E2853CA5FE3}"/>
                  </a:ext>
                </a:extLst>
              </p:cNvPr>
              <p:cNvSpPr/>
              <p:nvPr/>
            </p:nvSpPr>
            <p:spPr>
              <a:xfrm>
                <a:off x="6323943" y="1791965"/>
                <a:ext cx="322585" cy="322585"/>
              </a:xfrm>
              <a:prstGeom prst="roundRect">
                <a:avLst>
                  <a:gd name="adj" fmla="val 177163"/>
                </a:avLst>
              </a:prstGeom>
              <a:solidFill>
                <a:srgbClr val="F5A3A3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16" name="Text 12">
                <a:extLst>
                  <a:ext uri="{FF2B5EF4-FFF2-40B4-BE49-F238E27FC236}">
                    <a16:creationId xmlns:a16="http://schemas.microsoft.com/office/drawing/2014/main" id="{2F0A9828-8B37-574F-3592-DB28A2F7F25B}"/>
                  </a:ext>
                </a:extLst>
              </p:cNvPr>
              <p:cNvSpPr/>
              <p:nvPr/>
            </p:nvSpPr>
            <p:spPr>
              <a:xfrm>
                <a:off x="4880496" y="2222004"/>
                <a:ext cx="3209479" cy="158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ct val="104000"/>
                  </a:lnSpc>
                </a:pPr>
                <a:r>
                  <a:rPr lang="pt-PT" sz="950" noProof="0" dirty="0">
                    <a:solidFill>
                      <a:srgbClr val="3B3535"/>
                    </a:solidFill>
                    <a:latin typeface="Red Hat Text" pitchFamily="34" charset="0"/>
                    <a:ea typeface="Red Hat Text" pitchFamily="34" charset="-122"/>
                    <a:cs typeface="Red Hat Text" pitchFamily="34" charset="-120"/>
                  </a:rPr>
                  <a:t>Base de Dados</a:t>
                </a:r>
                <a:endParaRPr lang="pt-PT" sz="950" noProof="0" dirty="0"/>
              </a:p>
            </p:txBody>
          </p:sp>
          <p:sp>
            <p:nvSpPr>
              <p:cNvPr id="17" name="Text 13">
                <a:extLst>
                  <a:ext uri="{FF2B5EF4-FFF2-40B4-BE49-F238E27FC236}">
                    <a16:creationId xmlns:a16="http://schemas.microsoft.com/office/drawing/2014/main" id="{0C87C365-7A90-376E-E0A9-F5E24BD6662E}"/>
                  </a:ext>
                </a:extLst>
              </p:cNvPr>
              <p:cNvSpPr/>
              <p:nvPr/>
            </p:nvSpPr>
            <p:spPr>
              <a:xfrm>
                <a:off x="4880496" y="2426494"/>
                <a:ext cx="3209479" cy="4433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algn="just">
                  <a:lnSpc>
                    <a:spcPct val="115000"/>
                  </a:lnSpc>
                </a:pPr>
                <a:r>
                  <a:rPr lang="pt-PT" sz="800" noProof="0" dirty="0">
                    <a:solidFill>
                      <a:srgbClr val="3B3535"/>
                    </a:solidFill>
                    <a:latin typeface="Roboto Light" pitchFamily="34" charset="0"/>
                    <a:ea typeface="Roboto Light" pitchFamily="34" charset="-122"/>
                    <a:cs typeface="Roboto Light" pitchFamily="34" charset="-120"/>
                  </a:rPr>
                  <a:t>Criar a base de dados e o role dedicados, correr as migrations Drizzle e o seed (tabelas de referência + administrador inicial).</a:t>
                </a:r>
                <a:endParaRPr lang="pt-PT" sz="800" noProof="0" dirty="0"/>
              </a:p>
            </p:txBody>
          </p:sp>
          <p:pic>
            <p:nvPicPr>
              <p:cNvPr id="33" name="Image 4" descr="preencoded.png">
                <a:extLst>
                  <a:ext uri="{FF2B5EF4-FFF2-40B4-BE49-F238E27FC236}">
                    <a16:creationId xmlns:a16="http://schemas.microsoft.com/office/drawing/2014/main" id="{4309D7C6-D918-54E2-AFFF-6D68C7D3B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20681" y="1894858"/>
                <a:ext cx="129034" cy="129034"/>
              </a:xfrm>
              <a:prstGeom prst="rect">
                <a:avLst/>
              </a:prstGeom>
            </p:spPr>
          </p:pic>
        </p:grpSp>
      </p:grpSp>
      <p:sp>
        <p:nvSpPr>
          <p:cNvPr id="36" name="Shape 0">
            <a:extLst>
              <a:ext uri="{FF2B5EF4-FFF2-40B4-BE49-F238E27FC236}">
                <a16:creationId xmlns:a16="http://schemas.microsoft.com/office/drawing/2014/main" id="{2EA9616A-F5AC-7F6C-FCC1-47DD1F2D2B92}"/>
              </a:ext>
            </a:extLst>
          </p:cNvPr>
          <p:cNvSpPr/>
          <p:nvPr/>
        </p:nvSpPr>
        <p:spPr>
          <a:xfrm>
            <a:off x="474538" y="549846"/>
            <a:ext cx="850000" cy="256208"/>
          </a:xfrm>
          <a:prstGeom prst="roundRect">
            <a:avLst>
              <a:gd name="adj" fmla="val 6350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A633DC9C-C4FF-605E-54FF-855F9245A5CE}"/>
              </a:ext>
            </a:extLst>
          </p:cNvPr>
          <p:cNvSpPr/>
          <p:nvPr/>
        </p:nvSpPr>
        <p:spPr>
          <a:xfrm>
            <a:off x="560636" y="595238"/>
            <a:ext cx="1166143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pt-PT" sz="85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DEPLOYMENT</a:t>
            </a:r>
            <a:endParaRPr lang="pt-PT" sz="850" noProof="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611D9BF7-A1D2-CF1C-D2F2-A0B52179C671}"/>
              </a:ext>
            </a:extLst>
          </p:cNvPr>
          <p:cNvSpPr/>
          <p:nvPr/>
        </p:nvSpPr>
        <p:spPr>
          <a:xfrm>
            <a:off x="474538" y="855166"/>
            <a:ext cx="471442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pt-PT" sz="2800" noProof="0" dirty="0" err="1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Roteiro para Produção na VM do ISEL</a:t>
            </a:r>
            <a:endParaRPr lang="pt-PT" sz="2800" noProof="0" dirty="0"/>
          </a:p>
        </p:txBody>
      </p:sp>
    </p:spTree>
    <p:extLst>
      <p:ext uri="{BB962C8B-B14F-4D97-AF65-F5344CB8AC3E}">
        <p14:creationId xmlns:p14="http://schemas.microsoft.com/office/powerpoint/2010/main" val="855687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6D93D722-098A-15C6-57B3-947B79663563}"/>
              </a:ext>
            </a:extLst>
          </p:cNvPr>
          <p:cNvGrpSpPr/>
          <p:nvPr/>
        </p:nvGrpSpPr>
        <p:grpSpPr>
          <a:xfrm>
            <a:off x="3015332" y="1393983"/>
            <a:ext cx="3113336" cy="2355535"/>
            <a:chOff x="3015332" y="951747"/>
            <a:chExt cx="3113336" cy="2355535"/>
          </a:xfrm>
        </p:grpSpPr>
        <p:sp>
          <p:nvSpPr>
            <p:cNvPr id="2" name="Shape 0"/>
            <p:cNvSpPr/>
            <p:nvPr/>
          </p:nvSpPr>
          <p:spPr>
            <a:xfrm>
              <a:off x="3919305" y="2708726"/>
              <a:ext cx="1305389" cy="228749"/>
            </a:xfrm>
            <a:prstGeom prst="roundRect">
              <a:avLst>
                <a:gd name="adj" fmla="val 6500"/>
              </a:avLst>
            </a:prstGeom>
            <a:noFill/>
            <a:ln w="4763">
              <a:solidFill>
                <a:srgbClr val="F5A3A3"/>
              </a:solidFill>
              <a:prstDash val="solid"/>
            </a:ln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020331" y="2750621"/>
              <a:ext cx="1103337" cy="1449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pt-PT" sz="750" noProof="0" dirty="0">
                  <a:solidFill>
                    <a:srgbClr val="F5A3A3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DEMONSTRAÇÃO AO VIVO</a:t>
              </a:r>
              <a:endParaRPr lang="pt-PT" sz="750" noProof="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15332" y="2942876"/>
              <a:ext cx="3113336" cy="3644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pt-PT" sz="2250" noProof="0" dirty="0">
                  <a:solidFill>
                    <a:srgbClr val="1F1E1E"/>
                  </a:solidFill>
                  <a:latin typeface="Red Hat Text" pitchFamily="34" charset="0"/>
                  <a:ea typeface="Red Hat Text" pitchFamily="34" charset="-122"/>
                  <a:cs typeface="Red Hat Text" pitchFamily="34" charset="-120"/>
                </a:rPr>
                <a:t>EduCal em Ação (5 min)</a:t>
              </a:r>
              <a:endParaRPr lang="pt-PT" sz="2250" noProof="0" dirty="0"/>
            </a:p>
          </p:txBody>
        </p:sp>
        <p:sp>
          <p:nvSpPr>
            <p:cNvPr id="6" name="Play Circle">
              <a:hlinkClick r:id="rId3" action="ppaction://hlinkfile"/>
              <a:extLst>
                <a:ext uri="{FF2B5EF4-FFF2-40B4-BE49-F238E27FC236}">
                  <a16:creationId xmlns:a16="http://schemas.microsoft.com/office/drawing/2014/main" id="{AD370C20-0E8A-D0B8-879C-9C6CEB96F9AE}"/>
                </a:ext>
              </a:extLst>
            </p:cNvPr>
            <p:cNvSpPr/>
            <p:nvPr/>
          </p:nvSpPr>
          <p:spPr>
            <a:xfrm>
              <a:off x="3822000" y="951747"/>
              <a:ext cx="1500000" cy="1500000"/>
            </a:xfrm>
            <a:prstGeom prst="roundRect">
              <a:avLst>
                <a:gd name="adj" fmla="val 148177"/>
              </a:avLst>
            </a:prstGeom>
            <a:solidFill>
              <a:srgbClr val="F5A3A3"/>
            </a:solidFill>
            <a:ln/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8" name="Play Triangle">
              <a:extLst>
                <a:ext uri="{FF2B5EF4-FFF2-40B4-BE49-F238E27FC236}">
                  <a16:creationId xmlns:a16="http://schemas.microsoft.com/office/drawing/2014/main" id="{5D4A7991-29EC-CFCD-E237-28BC0DB51C06}"/>
                </a:ext>
              </a:extLst>
            </p:cNvPr>
            <p:cNvSpPr/>
            <p:nvPr/>
          </p:nvSpPr>
          <p:spPr>
            <a:xfrm rot="5400000">
              <a:off x="4297000" y="1426747"/>
              <a:ext cx="550000" cy="550000"/>
            </a:xfrm>
            <a:prstGeom prst="triangle">
              <a:avLst/>
            </a:prstGeom>
            <a:noFill/>
            <a:ln w="28575">
              <a:solidFill>
                <a:srgbClr val="1F1E1E"/>
              </a:solidFill>
            </a:ln>
          </p:spPr>
          <p:txBody>
            <a:bodyPr/>
            <a:lstStyle/>
            <a:p>
              <a:endParaRPr lang="pt-PT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4433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908" y="391344"/>
            <a:ext cx="970089" cy="267519"/>
          </a:xfrm>
          <a:prstGeom prst="roundRect">
            <a:avLst>
              <a:gd name="adj" fmla="val 6292"/>
            </a:avLst>
          </a:prstGeom>
          <a:noFill/>
          <a:ln w="4763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Text 1"/>
          <p:cNvSpPr/>
          <p:nvPr/>
        </p:nvSpPr>
        <p:spPr>
          <a:xfrm>
            <a:off x="579760" y="438150"/>
            <a:ext cx="804611" cy="17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pt-PT" sz="850" noProof="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BALANÇO FINAL</a:t>
            </a:r>
            <a:endParaRPr lang="pt-PT" sz="850" noProof="0" dirty="0"/>
          </a:p>
        </p:txBody>
      </p:sp>
      <p:sp>
        <p:nvSpPr>
          <p:cNvPr id="4" name="Text 2"/>
          <p:cNvSpPr/>
          <p:nvPr/>
        </p:nvSpPr>
        <p:spPr>
          <a:xfrm>
            <a:off x="490910" y="711398"/>
            <a:ext cx="3300264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pt-PT" sz="2000" b="1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Estado Final do Projeto</a:t>
            </a:r>
            <a:endParaRPr lang="pt-PT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4562475" y="1321073"/>
            <a:ext cx="19050" cy="2710830"/>
          </a:xfrm>
          <a:prstGeom prst="roundRect">
            <a:avLst>
              <a:gd name="adj" fmla="val 110443"/>
            </a:avLst>
          </a:prstGeom>
          <a:solidFill>
            <a:srgbClr val="D9CECE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4012518" y="1469306"/>
            <a:ext cx="420737" cy="19050"/>
          </a:xfrm>
          <a:prstGeom prst="roundRect">
            <a:avLst>
              <a:gd name="adj" fmla="val 110443"/>
            </a:avLst>
          </a:prstGeom>
          <a:solidFill>
            <a:srgbClr val="D9CECE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4414205" y="1321073"/>
            <a:ext cx="315590" cy="315590"/>
          </a:xfrm>
          <a:prstGeom prst="roundRect">
            <a:avLst>
              <a:gd name="adj" fmla="val 6667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8" name="Text 6"/>
          <p:cNvSpPr/>
          <p:nvPr/>
        </p:nvSpPr>
        <p:spPr>
          <a:xfrm>
            <a:off x="4472955" y="1355080"/>
            <a:ext cx="198016" cy="247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PT" sz="15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</a:t>
            </a:r>
            <a:endParaRPr lang="pt-PT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2220590" y="1369219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pt-PT" sz="1250" noProof="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✅</a:t>
            </a:r>
            <a:r>
              <a:rPr lang="pt-PT" sz="12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Entregue</a:t>
            </a:r>
            <a:endParaRPr lang="pt-PT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490910" y="1654373"/>
            <a:ext cx="3379812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pt-PT" sz="11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Gestão de eventos, motor de migração, motor de regras e controlo de acessos; notificações in-app em uso.</a:t>
            </a:r>
            <a:endParaRPr lang="pt-PT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710745" y="2293293"/>
            <a:ext cx="420737" cy="19050"/>
          </a:xfrm>
          <a:prstGeom prst="roundRect">
            <a:avLst>
              <a:gd name="adj" fmla="val 110443"/>
            </a:avLst>
          </a:prstGeom>
          <a:solidFill>
            <a:srgbClr val="D9CECE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4414205" y="2145060"/>
            <a:ext cx="315590" cy="315590"/>
          </a:xfrm>
          <a:prstGeom prst="roundRect">
            <a:avLst>
              <a:gd name="adj" fmla="val 6667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Text 11"/>
          <p:cNvSpPr/>
          <p:nvPr/>
        </p:nvSpPr>
        <p:spPr>
          <a:xfrm>
            <a:off x="4472955" y="2179067"/>
            <a:ext cx="198016" cy="247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PT" sz="15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</a:t>
            </a:r>
            <a:endParaRPr lang="pt-PT" sz="1550" noProof="0" dirty="0"/>
          </a:p>
        </p:txBody>
      </p:sp>
      <p:sp>
        <p:nvSpPr>
          <p:cNvPr id="14" name="Text 12"/>
          <p:cNvSpPr/>
          <p:nvPr/>
        </p:nvSpPr>
        <p:spPr>
          <a:xfrm>
            <a:off x="5273277" y="2193206"/>
            <a:ext cx="200780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pt-PT" sz="1250" noProof="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⚠️</a:t>
            </a:r>
            <a:r>
              <a:rPr lang="pt-PT" sz="12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Em Desenvolvimento</a:t>
            </a:r>
            <a:endParaRPr lang="pt-PT" sz="1250" noProof="0" dirty="0"/>
          </a:p>
        </p:txBody>
      </p:sp>
      <p:sp>
        <p:nvSpPr>
          <p:cNvPr id="15" name="Text 13"/>
          <p:cNvSpPr/>
          <p:nvPr/>
        </p:nvSpPr>
        <p:spPr>
          <a:xfrm>
            <a:off x="5273278" y="2478360"/>
            <a:ext cx="3379812" cy="217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PT" sz="11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Exportação do calendário em Excel (RF05) e templates de email para notificações (restante do RF04).</a:t>
            </a:r>
            <a:endParaRPr lang="pt-PT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4012518" y="3009900"/>
            <a:ext cx="420737" cy="19050"/>
          </a:xfrm>
          <a:prstGeom prst="roundRect">
            <a:avLst>
              <a:gd name="adj" fmla="val 110443"/>
            </a:avLst>
          </a:prstGeom>
          <a:solidFill>
            <a:srgbClr val="D9CECE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4414205" y="2861667"/>
            <a:ext cx="315590" cy="315590"/>
          </a:xfrm>
          <a:prstGeom prst="roundRect">
            <a:avLst>
              <a:gd name="adj" fmla="val 6667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Text 16"/>
          <p:cNvSpPr/>
          <p:nvPr/>
        </p:nvSpPr>
        <p:spPr>
          <a:xfrm>
            <a:off x="4472955" y="2895674"/>
            <a:ext cx="198016" cy="247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t-PT" sz="15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</a:t>
            </a:r>
            <a:endParaRPr lang="pt-PT" sz="1550" noProof="0" dirty="0"/>
          </a:p>
        </p:txBody>
      </p:sp>
      <p:sp>
        <p:nvSpPr>
          <p:cNvPr id="19" name="Text 17"/>
          <p:cNvSpPr/>
          <p:nvPr/>
        </p:nvSpPr>
        <p:spPr>
          <a:xfrm>
            <a:off x="2220590" y="2909813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pt-PT" sz="1250" noProof="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🚀</a:t>
            </a:r>
            <a:r>
              <a:rPr lang="pt-PT" sz="1250" noProof="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Próximos Passos</a:t>
            </a:r>
            <a:endParaRPr lang="pt-PT" sz="1250" noProof="0" dirty="0"/>
          </a:p>
        </p:txBody>
      </p:sp>
      <p:sp>
        <p:nvSpPr>
          <p:cNvPr id="20" name="Text 18"/>
          <p:cNvSpPr/>
          <p:nvPr/>
        </p:nvSpPr>
        <p:spPr>
          <a:xfrm>
            <a:off x="490910" y="3194968"/>
            <a:ext cx="3379812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pt-PT" sz="1100" noProof="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Aprovisionamento da VM do ISEL</a:t>
            </a:r>
            <a:r>
              <a:rPr lang="pt-PT" sz="11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pt-PT" sz="1100" noProof="0" dirty="0"/>
          </a:p>
        </p:txBody>
      </p:sp>
      <p:sp>
        <p:nvSpPr>
          <p:cNvPr id="21" name="Shape 19"/>
          <p:cNvSpPr/>
          <p:nvPr/>
        </p:nvSpPr>
        <p:spPr>
          <a:xfrm>
            <a:off x="490910" y="4179763"/>
            <a:ext cx="8162181" cy="572319"/>
          </a:xfrm>
          <a:prstGeom prst="roundRect">
            <a:avLst>
              <a:gd name="adj" fmla="val 3676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06" y="4384700"/>
            <a:ext cx="175320" cy="1401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27608" y="4249043"/>
            <a:ext cx="7566273" cy="4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PT" sz="1100" noProof="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Quatro das seis funcionalidades foram </a:t>
            </a:r>
            <a:r>
              <a:rPr lang="pt-PT" sz="1100" b="1" noProof="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totalmente entregues e estão em uso</a:t>
            </a:r>
            <a:r>
              <a:rPr lang="pt-PT" sz="1100" noProof="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; as restantes estão a ser neste momento desenvolvidas.</a:t>
            </a:r>
            <a:endParaRPr lang="pt-PT" sz="1100" noProof="0" dirty="0"/>
          </a:p>
        </p:txBody>
      </p:sp>
    </p:spTree>
    <p:extLst>
      <p:ext uri="{BB962C8B-B14F-4D97-AF65-F5344CB8AC3E}">
        <p14:creationId xmlns:p14="http://schemas.microsoft.com/office/powerpoint/2010/main" val="834287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>
              <a:alpha val="85000"/>
            </a:srgbClr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 1"/>
          <p:cNvSpPr/>
          <p:nvPr/>
        </p:nvSpPr>
        <p:spPr>
          <a:xfrm>
            <a:off x="1834000" y="2100000"/>
            <a:ext cx="547600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pt-PT" sz="275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Agradecimentos</a:t>
            </a:r>
            <a:endParaRPr lang="pt-PT" sz="2750" noProof="0" dirty="0"/>
          </a:p>
        </p:txBody>
      </p:sp>
      <p:sp>
        <p:nvSpPr>
          <p:cNvPr id="5" name="Text 2"/>
          <p:cNvSpPr/>
          <p:nvPr/>
        </p:nvSpPr>
        <p:spPr>
          <a:xfrm>
            <a:off x="2072000" y="2700000"/>
            <a:ext cx="50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pt-PT" sz="1500" noProof="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Aos orientadores Filipe Freitas e Sandra Ferreira, e a todo o ISEL.</a:t>
            </a:r>
            <a:endParaRPr lang="pt-PT" sz="15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80E092FB39ED4D81D600C64F921508" ma:contentTypeVersion="3" ma:contentTypeDescription="Criar um novo documento." ma:contentTypeScope="" ma:versionID="5dc1003f08df9bb95475ba6da489f3c4">
  <xsd:schema xmlns:xsd="http://www.w3.org/2001/XMLSchema" xmlns:xs="http://www.w3.org/2001/XMLSchema" xmlns:p="http://schemas.microsoft.com/office/2006/metadata/properties" xmlns:ns2="1e02322d-792c-4c9d-8624-511c32612cae" targetNamespace="http://schemas.microsoft.com/office/2006/metadata/properties" ma:root="true" ma:fieldsID="8cf1f3da0157ea6bf09ef19cab98c281" ns2:_="">
    <xsd:import namespace="1e02322d-792c-4c9d-8624-511c32612c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02322d-792c-4c9d-8624-511c32612c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0BE6C41-CEBC-443A-B073-CC4D95F381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02322d-792c-4c9d-8624-511c32612c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858620-0DED-471B-8546-20F9688D16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F80943-E76A-409F-AE6E-FE893E3C058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</TotalTime>
  <Words>1578</Words>
  <Application>Microsoft Office PowerPoint</Application>
  <PresentationFormat>Apresentação no Ecrã (16:9)</PresentationFormat>
  <Paragraphs>186</Paragraphs>
  <Slides>22</Slides>
  <Notes>13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22</vt:i4>
      </vt:variant>
    </vt:vector>
  </HeadingPairs>
  <TitlesOfParts>
    <vt:vector size="26" baseType="lpstr">
      <vt:lpstr>Arial</vt:lpstr>
      <vt:lpstr>Roboto Light</vt:lpstr>
      <vt:lpstr>Red Hat Text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Daniel Santos</cp:lastModifiedBy>
  <cp:revision>19</cp:revision>
  <dcterms:created xsi:type="dcterms:W3CDTF">2026-05-10T21:27:35Z</dcterms:created>
  <dcterms:modified xsi:type="dcterms:W3CDTF">2026-07-19T17:09:52Z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0x010100F780E092FB39ED4D81D600C64F921508</vt:lpwstr>
  </property>
</Properties>
</file>